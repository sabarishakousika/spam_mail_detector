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alphaModFix amt="30000"/>
          </a:blip>
          <a:stretch>
            <a:fillRect/>
          </a:stretch>
        </p:blipFill>
        <p:spPr>
          <a:xfrm>
            <a:off x="-222104" y="-1241327"/>
            <a:ext cx="7620000" cy="7620000"/>
          </a:xfrm>
          <a:prstGeom prst="rect">
            <a:avLst/>
          </a:prstGeom>
        </p:spPr>
      </p:pic>
      <p:sp>
        <p:nvSpPr>
          <p:cNvPr id="3" name="Text 0"/>
          <p:cNvSpPr/>
          <p:nvPr/>
        </p:nvSpPr>
        <p:spPr>
          <a:xfrm>
            <a:off x="952500" y="2190750"/>
            <a:ext cx="7620000" cy="266700"/>
          </a:xfrm>
          <a:prstGeom prst="rect">
            <a:avLst/>
          </a:prstGeom>
          <a:noFill/>
          <a:ln/>
        </p:spPr>
        <p:txBody>
          <a:bodyPr wrap="square" rtlCol="0" anchor="ctr"/>
          <a:lstStyle/>
          <a:p>
            <a:pPr algn="l" indent="0" marL="0">
              <a:lnSpc>
                <a:spcPct val="120000"/>
              </a:lnSpc>
              <a:buNone/>
            </a:pPr>
            <a:r>
              <a:rPr lang="en-US" sz="1800" b="1" dirty="0">
                <a:solidFill>
                  <a:srgbClr val="FF5A1F"/>
                </a:solidFill>
                <a:latin typeface="Montserrat" pitchFamily="34" charset="0"/>
                <a:ea typeface="Montserrat" pitchFamily="34" charset="-122"/>
                <a:cs typeface="Montserrat" pitchFamily="34" charset="-120"/>
              </a:rPr>
              <a:t>ARTIFICIAL INTELLIGENCE &amp; MACHINE LEARNING</a:t>
            </a:r>
            <a:endParaRPr lang="en-US" sz="1800" dirty="0"/>
          </a:p>
        </p:txBody>
      </p:sp>
      <p:sp>
        <p:nvSpPr>
          <p:cNvPr id="4" name="Text 1"/>
          <p:cNvSpPr/>
          <p:nvPr/>
        </p:nvSpPr>
        <p:spPr>
          <a:xfrm>
            <a:off x="952500" y="2762250"/>
            <a:ext cx="9525000" cy="2390775"/>
          </a:xfrm>
          <a:prstGeom prst="rect">
            <a:avLst/>
          </a:prstGeom>
          <a:noFill/>
          <a:ln/>
        </p:spPr>
        <p:txBody>
          <a:bodyPr wrap="square" rtlCol="0" anchor="ctr"/>
          <a:lstStyle/>
          <a:p>
            <a:pPr algn="l" indent="0" marL="0">
              <a:lnSpc>
                <a:spcPct val="110000"/>
              </a:lnSpc>
              <a:buNone/>
            </a:pPr>
            <a:r>
              <a:rPr lang="en-US" sz="5700" b="1" dirty="0">
                <a:solidFill>
                  <a:srgbClr val="FFFFFF"/>
                </a:solidFill>
                <a:latin typeface="Montserrat" pitchFamily="34" charset="0"/>
                <a:ea typeface="Montserrat" pitchFamily="34" charset="-122"/>
                <a:cs typeface="Montserrat" pitchFamily="34" charset="-120"/>
              </a:rPr>
              <a:t>Spam Mail</a:t>
            </a:r>
            <a:endParaRPr lang="en-US" sz="5700" dirty="0"/>
          </a:p>
          <a:p>
            <a:pPr algn="l" indent="0" marL="0">
              <a:lnSpc>
                <a:spcPct val="110000"/>
              </a:lnSpc>
              <a:buNone/>
            </a:pPr>
            <a:r>
              <a:rPr lang="en-US" sz="5700" b="1" dirty="0">
                <a:solidFill>
                  <a:srgbClr val="FFFFFF"/>
                </a:solidFill>
                <a:latin typeface="Montserrat" pitchFamily="34" charset="0"/>
                <a:ea typeface="Montserrat" pitchFamily="34" charset="-122"/>
                <a:cs typeface="Montserrat" pitchFamily="34" charset="-120"/>
              </a:rPr>
              <a:t>Detector Using</a:t>
            </a:r>
            <a:endParaRPr lang="en-US" sz="5700" dirty="0"/>
          </a:p>
          <a:p>
            <a:pPr algn="l" indent="0" marL="0">
              <a:lnSpc>
                <a:spcPct val="110000"/>
              </a:lnSpc>
              <a:buNone/>
            </a:pPr>
            <a:r>
              <a:rPr lang="en-US" sz="5700" b="1" dirty="0">
                <a:solidFill>
                  <a:srgbClr val="FFFFFF"/>
                </a:solidFill>
                <a:latin typeface="Montserrat" pitchFamily="34" charset="0"/>
                <a:ea typeface="Montserrat" pitchFamily="34" charset="-122"/>
                <a:cs typeface="Montserrat" pitchFamily="34" charset="-120"/>
              </a:rPr>
              <a:t>Machine Learning</a:t>
            </a:r>
            <a:endParaRPr lang="en-US" sz="5700" dirty="0"/>
          </a:p>
        </p:txBody>
      </p:sp>
      <p:sp>
        <p:nvSpPr>
          <p:cNvPr id="5" name="Text 2"/>
          <p:cNvSpPr/>
          <p:nvPr/>
        </p:nvSpPr>
        <p:spPr>
          <a:xfrm>
            <a:off x="952500" y="6000750"/>
            <a:ext cx="7620000" cy="800100"/>
          </a:xfrm>
          <a:prstGeom prst="rect">
            <a:avLst/>
          </a:prstGeom>
          <a:noFill/>
          <a:ln/>
        </p:spPr>
        <p:txBody>
          <a:bodyPr wrap="square" rtlCol="0" anchor="ctr"/>
          <a:lstStyle/>
          <a:p>
            <a:pPr algn="l" indent="0" marL="0">
              <a:lnSpc>
                <a:spcPct val="140000"/>
              </a:lnSpc>
              <a:buNone/>
            </a:pPr>
            <a:r>
              <a:rPr lang="en-US" sz="2250" dirty="0">
                <a:solidFill>
                  <a:srgbClr val="94A3B8"/>
                </a:solidFill>
                <a:latin typeface="Inter" pitchFamily="34" charset="0"/>
                <a:ea typeface="Inter" pitchFamily="34" charset="-122"/>
                <a:cs typeface="Inter" pitchFamily="34" charset="-120"/>
              </a:rPr>
              <a:t>Internship Domain: </a:t>
            </a:r>
            <a:endParaRPr lang="en-US" sz="2250" dirty="0"/>
          </a:p>
          <a:p>
            <a:pPr algn="l" indent="0" marL="0">
              <a:lnSpc>
                <a:spcPct val="140000"/>
              </a:lnSpc>
              <a:buNone/>
            </a:pPr>
            <a:r>
              <a:rPr lang="en-US" sz="2250" b="1" dirty="0">
                <a:solidFill>
                  <a:srgbClr val="FFFFFF"/>
                </a:solidFill>
                <a:latin typeface="Inter" pitchFamily="34" charset="0"/>
                <a:ea typeface="Inter" pitchFamily="34" charset="-122"/>
                <a:cs typeface="Inter" pitchFamily="34" charset="-120"/>
              </a:rPr>
              <a:t>Artificial Intelligence &amp; Machine Learning</a:t>
            </a:r>
            <a:endParaRPr lang="en-US" sz="2250" dirty="0"/>
          </a:p>
        </p:txBody>
      </p:sp>
      <p:sp>
        <p:nvSpPr>
          <p:cNvPr id="6" name="Text 3"/>
          <p:cNvSpPr/>
          <p:nvPr/>
        </p:nvSpPr>
        <p:spPr>
          <a:xfrm>
            <a:off x="953291" y="6953250"/>
            <a:ext cx="7620000" cy="800100"/>
          </a:xfrm>
          <a:prstGeom prst="rect">
            <a:avLst/>
          </a:prstGeom>
          <a:noFill/>
          <a:ln/>
        </p:spPr>
        <p:txBody>
          <a:bodyPr wrap="square" rtlCol="0" anchor="ctr"/>
          <a:lstStyle/>
          <a:p>
            <a:pPr algn="l" indent="0" marL="0">
              <a:lnSpc>
                <a:spcPct val="140000"/>
              </a:lnSpc>
              <a:buNone/>
            </a:pPr>
            <a:r>
              <a:rPr lang="en-US" sz="2250" dirty="0">
                <a:solidFill>
                  <a:srgbClr val="94A3B8"/>
                </a:solidFill>
                <a:latin typeface="Inter" pitchFamily="34" charset="0"/>
                <a:ea typeface="Inter" pitchFamily="34" charset="-122"/>
                <a:cs typeface="Inter" pitchFamily="34" charset="-120"/>
              </a:rPr>
              <a:t>Prepared By: </a:t>
            </a:r>
            <a:endParaRPr lang="en-US" sz="2250" dirty="0"/>
          </a:p>
          <a:p>
            <a:pPr algn="l" indent="0" marL="0">
              <a:lnSpc>
                <a:spcPct val="140000"/>
              </a:lnSpc>
              <a:buNone/>
            </a:pPr>
            <a:r>
              <a:rPr lang="en-US" sz="2250" b="1" dirty="0">
                <a:solidFill>
                  <a:srgbClr val="FF5A1F"/>
                </a:solidFill>
                <a:latin typeface="Inter" pitchFamily="34" charset="0"/>
                <a:ea typeface="Inter" pitchFamily="34" charset="-122"/>
                <a:cs typeface="Inter" pitchFamily="34" charset="-120"/>
              </a:rPr>
              <a:t>Kousika Sabarisha</a:t>
            </a:r>
            <a:endParaRPr lang="en-US" sz="2250" dirty="0"/>
          </a:p>
        </p:txBody>
      </p:sp>
      <p:pic>
        <p:nvPicPr>
          <p:cNvPr id="7" name="Image 1" descr="preencoded.png">    </p:cNvPr>
          <p:cNvPicPr>
            <a:picLocks noChangeAspect="1"/>
          </p:cNvPicPr>
          <p:nvPr/>
        </p:nvPicPr>
        <p:blipFill>
          <a:blip r:embed="rId3"/>
          <a:stretch>
            <a:fillRect/>
          </a:stretch>
        </p:blipFill>
        <p:spPr>
          <a:xfrm>
            <a:off x="1284341" y="8243821"/>
            <a:ext cx="337461" cy="337461"/>
          </a:xfrm>
          <a:prstGeom prst="rect">
            <a:avLst/>
          </a:prstGeom>
        </p:spPr>
      </p:pic>
      <p:pic>
        <p:nvPicPr>
          <p:cNvPr id="8" name="Image 2" descr="preencoded.png">    </p:cNvPr>
          <p:cNvPicPr>
            <a:picLocks noChangeAspect="1"/>
          </p:cNvPicPr>
          <p:nvPr/>
        </p:nvPicPr>
        <p:blipFill>
          <a:blip r:embed="rId4"/>
          <a:stretch>
            <a:fillRect/>
          </a:stretch>
        </p:blipFill>
        <p:spPr>
          <a:xfrm>
            <a:off x="1959254" y="8243821"/>
            <a:ext cx="337461" cy="337461"/>
          </a:xfrm>
          <a:prstGeom prst="rect">
            <a:avLst/>
          </a:prstGeom>
        </p:spPr>
      </p:pic>
      <p:pic>
        <p:nvPicPr>
          <p:cNvPr id="9" name="Image 3" descr="preencoded.png">    </p:cNvPr>
          <p:cNvPicPr>
            <a:picLocks noChangeAspect="1"/>
          </p:cNvPicPr>
          <p:nvPr/>
        </p:nvPicPr>
        <p:blipFill>
          <a:blip r:embed="rId5"/>
          <a:stretch>
            <a:fillRect/>
          </a:stretch>
        </p:blipFill>
        <p:spPr>
          <a:xfrm>
            <a:off x="9711023" y="1713709"/>
            <a:ext cx="7246896" cy="7246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209550"/>
          </a:xfrm>
          <a:prstGeom prst="rect">
            <a:avLst/>
          </a:prstGeom>
          <a:noFill/>
          <a:ln/>
        </p:spPr>
        <p:txBody>
          <a:bodyPr wrap="square" rtlCol="0" anchor="ctr"/>
          <a:lstStyle/>
          <a:p>
            <a:pPr algn="l" indent="0" marL="0">
              <a:lnSpc>
                <a:spcPct val="120000"/>
              </a:lnSpc>
              <a:buNone/>
            </a:pPr>
            <a:r>
              <a:rPr lang="en-US" sz="1350" b="1" dirty="0">
                <a:solidFill>
                  <a:srgbClr val="FF5A1F"/>
                </a:solidFill>
                <a:latin typeface="Montserrat" pitchFamily="34" charset="0"/>
                <a:ea typeface="Montserrat" pitchFamily="34" charset="-122"/>
                <a:cs typeface="Montserrat" pitchFamily="34" charset="-120"/>
              </a:rPr>
              <a:t>01  /  INTRODUCTION</a:t>
            </a:r>
            <a:endParaRPr lang="en-US" sz="1350" dirty="0"/>
          </a:p>
        </p:txBody>
      </p:sp>
      <p:sp>
        <p:nvSpPr>
          <p:cNvPr id="3" name="Text 1"/>
          <p:cNvSpPr/>
          <p:nvPr/>
        </p:nvSpPr>
        <p:spPr>
          <a:xfrm>
            <a:off x="952500" y="1143000"/>
            <a:ext cx="9525000" cy="533400"/>
          </a:xfrm>
          <a:prstGeom prst="rect">
            <a:avLst/>
          </a:prstGeom>
          <a:noFill/>
          <a:ln/>
        </p:spPr>
        <p:txBody>
          <a:bodyPr wrap="square" rtlCol="0" anchor="ctr"/>
          <a:lstStyle/>
          <a:p>
            <a:pPr algn="l" indent="0" marL="0">
              <a:lnSpc>
                <a:spcPct val="120000"/>
              </a:lnSpc>
              <a:buNone/>
            </a:pPr>
            <a:r>
              <a:rPr lang="en-US" sz="3450" b="1" dirty="0">
                <a:solidFill>
                  <a:srgbClr val="FFFFFF"/>
                </a:solidFill>
                <a:latin typeface="Montserrat" pitchFamily="34" charset="0"/>
                <a:ea typeface="Montserrat" pitchFamily="34" charset="-122"/>
                <a:cs typeface="Montserrat" pitchFamily="34" charset="-120"/>
              </a:rPr>
              <a:t>The Growing Threat of Unsolicited Mail</a:t>
            </a:r>
            <a:endParaRPr lang="en-US" sz="3450" dirty="0"/>
          </a:p>
        </p:txBody>
      </p:sp>
      <p:sp>
        <p:nvSpPr>
          <p:cNvPr id="4" name="Text 2"/>
          <p:cNvSpPr/>
          <p:nvPr/>
        </p:nvSpPr>
        <p:spPr>
          <a:xfrm>
            <a:off x="952500" y="2286000"/>
            <a:ext cx="7620000" cy="1485900"/>
          </a:xfrm>
          <a:prstGeom prst="rect">
            <a:avLst/>
          </a:prstGeom>
          <a:noFill/>
          <a:ln/>
        </p:spPr>
        <p:txBody>
          <a:bodyPr wrap="square" rtlCol="0" anchor="ctr"/>
          <a:lstStyle/>
          <a:p>
            <a:pPr algn="l" indent="0" marL="0">
              <a:lnSpc>
                <a:spcPct val="150000"/>
              </a:lnSpc>
              <a:buNone/>
            </a:pPr>
            <a:r>
              <a:rPr lang="en-US" sz="1950" dirty="0">
                <a:solidFill>
                  <a:srgbClr val="FFFFFF"/>
                </a:solidFill>
                <a:latin typeface="Inter" pitchFamily="34" charset="0"/>
                <a:ea typeface="Inter" pitchFamily="34" charset="-122"/>
                <a:cs typeface="Inter" pitchFamily="34" charset="-120"/>
              </a:rPr>
              <a:t>Spam mail refers to unsolicited bulk messages sent electronically, primarily via email and SMS. What began as an advertising nuisance has evolved into a sophisticated vector for cyber threats.</a:t>
            </a:r>
            <a:endParaRPr lang="en-US" sz="1950" dirty="0"/>
          </a:p>
        </p:txBody>
      </p:sp>
      <p:pic>
        <p:nvPicPr>
          <p:cNvPr id="5" name="Image 0" descr="preencoded.png">    </p:cNvPr>
          <p:cNvPicPr>
            <a:picLocks noChangeAspect="1"/>
          </p:cNvPicPr>
          <p:nvPr/>
        </p:nvPicPr>
        <p:blipFill>
          <a:blip r:embed="rId2"/>
          <a:stretch>
            <a:fillRect/>
          </a:stretch>
        </p:blipFill>
        <p:spPr>
          <a:xfrm>
            <a:off x="952500" y="3905250"/>
            <a:ext cx="7805671" cy="1463564"/>
          </a:xfrm>
          <a:prstGeom prst="rect">
            <a:avLst/>
          </a:prstGeom>
        </p:spPr>
      </p:pic>
      <p:sp>
        <p:nvSpPr>
          <p:cNvPr id="6" name="Text 3"/>
          <p:cNvSpPr/>
          <p:nvPr/>
        </p:nvSpPr>
        <p:spPr>
          <a:xfrm>
            <a:off x="1237983" y="4092321"/>
            <a:ext cx="7048500" cy="1276350"/>
          </a:xfrm>
          <a:prstGeom prst="rect">
            <a:avLst/>
          </a:prstGeom>
          <a:noFill/>
          <a:ln/>
        </p:spPr>
        <p:txBody>
          <a:bodyPr wrap="square" rtlCol="0" anchor="ctr"/>
          <a:lstStyle/>
          <a:p>
            <a:pPr algn="l" indent="0" marL="0">
              <a:lnSpc>
                <a:spcPct val="140000"/>
              </a:lnSpc>
              <a:buNone/>
            </a:pPr>
            <a:r>
              <a:rPr lang="en-US" sz="1800" b="1" dirty="0">
                <a:solidFill>
                  <a:srgbClr val="FF5A1F"/>
                </a:solidFill>
                <a:latin typeface="Inter" pitchFamily="34" charset="0"/>
                <a:ea typeface="Inter" pitchFamily="34" charset="-122"/>
                <a:cs typeface="Inter" pitchFamily="34" charset="-120"/>
              </a:rPr>
              <a:t>Security &amp; Phishing Risks</a:t>
            </a:r>
            <a:endParaRPr lang="en-US" sz="1800" dirty="0"/>
          </a:p>
          <a:p>
            <a:pPr algn="l" indent="0" marL="0">
              <a:lnSpc>
                <a:spcPct val="140000"/>
              </a:lnSpc>
              <a:buNone/>
            </a:pPr>
            <a:r>
              <a:rPr lang="en-US" sz="1800" dirty="0">
                <a:solidFill>
                  <a:srgbClr val="94A3B8"/>
                </a:solidFill>
                <a:latin typeface="Inter" pitchFamily="34" charset="0"/>
                <a:ea typeface="Inter" pitchFamily="34" charset="-122"/>
                <a:cs typeface="Inter" pitchFamily="34" charset="-120"/>
              </a:rPr>
              <a:t>Spam is frequently used to distribute ransomware, keyloggers, and sophisticated phishing links designed to harvest personal credentials and financial data.</a:t>
            </a:r>
            <a:endParaRPr lang="en-US" sz="1800" dirty="0"/>
          </a:p>
        </p:txBody>
      </p:sp>
      <p:pic>
        <p:nvPicPr>
          <p:cNvPr id="7" name="Image 1" descr="preencoded.png">    </p:cNvPr>
          <p:cNvPicPr>
            <a:picLocks noChangeAspect="1"/>
          </p:cNvPicPr>
          <p:nvPr/>
        </p:nvPicPr>
        <p:blipFill>
          <a:blip r:embed="rId3"/>
          <a:stretch>
            <a:fillRect/>
          </a:stretch>
        </p:blipFill>
        <p:spPr>
          <a:xfrm>
            <a:off x="953291" y="5714733"/>
            <a:ext cx="7806042" cy="1463631"/>
          </a:xfrm>
          <a:prstGeom prst="rect">
            <a:avLst/>
          </a:prstGeom>
        </p:spPr>
      </p:pic>
      <p:sp>
        <p:nvSpPr>
          <p:cNvPr id="8" name="Text 4"/>
          <p:cNvSpPr/>
          <p:nvPr/>
        </p:nvSpPr>
        <p:spPr>
          <a:xfrm>
            <a:off x="1237288" y="5714733"/>
            <a:ext cx="7048500" cy="1276350"/>
          </a:xfrm>
          <a:prstGeom prst="rect">
            <a:avLst/>
          </a:prstGeom>
          <a:noFill/>
          <a:ln/>
        </p:spPr>
        <p:txBody>
          <a:bodyPr wrap="square" rtlCol="0" anchor="ctr"/>
          <a:lstStyle/>
          <a:p>
            <a:pPr algn="l" indent="0" marL="0">
              <a:lnSpc>
                <a:spcPct val="140000"/>
              </a:lnSpc>
              <a:buNone/>
            </a:pPr>
            <a:r>
              <a:rPr lang="en-US" sz="1800" b="1" dirty="0">
                <a:solidFill>
                  <a:srgbClr val="FF5A1F"/>
                </a:solidFill>
                <a:latin typeface="Inter" pitchFamily="34" charset="0"/>
                <a:ea typeface="Inter" pitchFamily="34" charset="-122"/>
                <a:cs typeface="Inter" pitchFamily="34" charset="-120"/>
              </a:rPr>
              <a:t>Resource &amp; Storage Inefficiency</a:t>
            </a:r>
            <a:endParaRPr lang="en-US" sz="1800" dirty="0"/>
          </a:p>
          <a:p>
            <a:pPr algn="l" indent="0" marL="0">
              <a:lnSpc>
                <a:spcPct val="140000"/>
              </a:lnSpc>
              <a:buNone/>
            </a:pPr>
            <a:r>
              <a:rPr lang="en-US" sz="1800" dirty="0">
                <a:solidFill>
                  <a:srgbClr val="94A3B8"/>
                </a:solidFill>
                <a:latin typeface="Inter" pitchFamily="34" charset="0"/>
                <a:ea typeface="Inter" pitchFamily="34" charset="-122"/>
                <a:cs typeface="Inter" pitchFamily="34" charset="-120"/>
              </a:rPr>
              <a:t>Billions of spam emails daily consume substantial network bandwidth, overload corporate mail servers, and waste valuable digital storage resources globally.</a:t>
            </a:r>
            <a:endParaRPr lang="en-US" sz="1800" dirty="0"/>
          </a:p>
        </p:txBody>
      </p:sp>
      <p:pic>
        <p:nvPicPr>
          <p:cNvPr id="9" name="Image 2" descr="preencoded.png">    </p:cNvPr>
          <p:cNvPicPr>
            <a:picLocks noChangeAspect="1"/>
          </p:cNvPicPr>
          <p:nvPr/>
        </p:nvPicPr>
        <p:blipFill>
          <a:blip r:embed="rId4"/>
          <a:stretch>
            <a:fillRect/>
          </a:stretch>
        </p:blipFill>
        <p:spPr>
          <a:xfrm>
            <a:off x="9144000" y="2286000"/>
            <a:ext cx="8191500" cy="5619750"/>
          </a:xfrm>
          <a:prstGeom prst="rect">
            <a:avLst/>
          </a:prstGeom>
        </p:spPr>
      </p:pic>
      <p:pic>
        <p:nvPicPr>
          <p:cNvPr id="10" name="Image 3" descr="preencoded.png">    </p:cNvPr>
          <p:cNvPicPr>
            <a:picLocks noChangeAspect="1"/>
          </p:cNvPicPr>
          <p:nvPr/>
        </p:nvPicPr>
        <p:blipFill>
          <a:blip r:embed="rId5"/>
          <a:stretch>
            <a:fillRect/>
          </a:stretch>
        </p:blipFill>
        <p:spPr>
          <a:xfrm>
            <a:off x="9525000" y="2667000"/>
            <a:ext cx="7429500" cy="2857500"/>
          </a:xfrm>
          <a:prstGeom prst="rect">
            <a:avLst/>
          </a:prstGeom>
        </p:spPr>
      </p:pic>
      <p:sp>
        <p:nvSpPr>
          <p:cNvPr id="11" name="Text 5"/>
          <p:cNvSpPr/>
          <p:nvPr/>
        </p:nvSpPr>
        <p:spPr>
          <a:xfrm>
            <a:off x="9525000" y="5810250"/>
            <a:ext cx="7429500" cy="2057400"/>
          </a:xfrm>
          <a:prstGeom prst="rect">
            <a:avLst/>
          </a:prstGeom>
          <a:noFill/>
          <a:ln/>
        </p:spPr>
        <p:txBody>
          <a:bodyPr wrap="square" rtlCol="0" anchor="ctr"/>
          <a:lstStyle/>
          <a:p>
            <a:pPr algn="l" indent="0" marL="0">
              <a:lnSpc>
                <a:spcPct val="150000"/>
              </a:lnSpc>
              <a:buNone/>
            </a:pPr>
            <a:r>
              <a:rPr lang="en-US" sz="1800" b="1" dirty="0">
                <a:solidFill>
                  <a:srgbClr val="FFFFFF"/>
                </a:solidFill>
                <a:latin typeface="Inter" pitchFamily="34" charset="0"/>
                <a:ea typeface="Inter" pitchFamily="34" charset="-122"/>
                <a:cs typeface="Inter" pitchFamily="34" charset="-120"/>
              </a:rPr>
              <a:t>The Need for Intelligent Filters</a:t>
            </a:r>
            <a:endParaRPr lang="en-US" sz="1800" dirty="0"/>
          </a:p>
          <a:p>
            <a:pPr algn="l" indent="0" marL="0">
              <a:lnSpc>
                <a:spcPct val="150000"/>
              </a:lnSpc>
              <a:buNone/>
            </a:pPr>
            <a:r>
              <a:rPr lang="en-US" sz="1800" dirty="0">
                <a:solidFill>
                  <a:srgbClr val="94A3B8"/>
                </a:solidFill>
                <a:latin typeface="Inter" pitchFamily="34" charset="0"/>
                <a:ea typeface="Inter" pitchFamily="34" charset="-122"/>
                <a:cs typeface="Inter" pitchFamily="34" charset="-120"/>
              </a:rPr>
              <a:t>Traditional rule-based filters are easily bypassed by modern spammers who alter keywords and bypass static lists. Robust systems must leverage Machine Learning and NLP to dynamically adapt, identify threat patterns, and ensure secure communication environments.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02  /  PROJECT OBJECTIVE</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Key Objectives &amp; Engineering Goals</a:t>
            </a:r>
            <a:endParaRPr lang="en-US" sz="3300" dirty="0"/>
          </a:p>
        </p:txBody>
      </p:sp>
      <p:sp>
        <p:nvSpPr>
          <p:cNvPr id="4" name="Text 2"/>
          <p:cNvSpPr/>
          <p:nvPr/>
        </p:nvSpPr>
        <p:spPr>
          <a:xfrm>
            <a:off x="952500" y="2286000"/>
            <a:ext cx="4572000" cy="3295650"/>
          </a:xfrm>
          <a:prstGeom prst="rect">
            <a:avLst/>
          </a:prstGeom>
          <a:noFill/>
          <a:ln/>
        </p:spPr>
        <p:txBody>
          <a:bodyPr wrap="square" rtlCol="0" anchor="ctr"/>
          <a:lstStyle/>
          <a:p>
            <a:pPr algn="l" indent="0" marL="0">
              <a:lnSpc>
                <a:spcPct val="160000"/>
              </a:lnSpc>
              <a:buNone/>
            </a:pPr>
            <a:r>
              <a:rPr lang="en-US" sz="1800" dirty="0">
                <a:solidFill>
                  <a:srgbClr val="94A3B8"/>
                </a:solidFill>
                <a:latin typeface="Inter" pitchFamily="34" charset="0"/>
                <a:ea typeface="Inter" pitchFamily="34" charset="-122"/>
                <a:cs typeface="Inter" pitchFamily="34" charset="-120"/>
              </a:rPr>
              <a:t>Building an end-to-end Machine Learning pipeline to analyze context, recognize malicious content patterns, and execute high-precision spam filtering with minimal processing overhead.</a:t>
            </a:r>
            <a:endParaRPr lang="en-US" sz="1800" dirty="0"/>
          </a:p>
          <a:p>
            <a:pPr algn="l" indent="0" marL="0">
              <a:lnSpc>
                <a:spcPct val="160000"/>
              </a:lnSpc>
              <a:buNone/>
            </a:pPr>
            <a:r>
              <a:rPr lang="en-US" sz="1800" dirty="0">
                <a:solidFill>
                  <a:srgbClr val="FFFFFF"/>
                </a:solidFill>
                <a:latin typeface="Inter" pitchFamily="34" charset="0"/>
                <a:ea typeface="Inter" pitchFamily="34" charset="-122"/>
                <a:cs typeface="Inter" pitchFamily="34" charset="-120"/>
              </a:rPr>
              <a:t>Our system aims to achieve near-perfect classification to prevent genuine messages (Ham) from being misclassified as threats.</a:t>
            </a:r>
            <a:endParaRPr lang="en-US" sz="1800" dirty="0"/>
          </a:p>
        </p:txBody>
      </p:sp>
      <p:pic>
        <p:nvPicPr>
          <p:cNvPr id="5" name="Image 0" descr="preencoded.png">    </p:cNvPr>
          <p:cNvPicPr>
            <a:picLocks noChangeAspect="1"/>
          </p:cNvPicPr>
          <p:nvPr/>
        </p:nvPicPr>
        <p:blipFill>
          <a:blip r:embed="rId2"/>
          <a:stretch>
            <a:fillRect/>
          </a:stretch>
        </p:blipFill>
        <p:spPr>
          <a:xfrm>
            <a:off x="952500" y="5715000"/>
            <a:ext cx="4572000" cy="2000250"/>
          </a:xfrm>
          <a:prstGeom prst="rect">
            <a:avLst/>
          </a:prstGeom>
        </p:spPr>
      </p:pic>
      <p:sp>
        <p:nvSpPr>
          <p:cNvPr id="6" name="Text 3"/>
          <p:cNvSpPr/>
          <p:nvPr/>
        </p:nvSpPr>
        <p:spPr>
          <a:xfrm>
            <a:off x="1238250" y="6000750"/>
            <a:ext cx="4000500" cy="1400175"/>
          </a:xfrm>
          <a:prstGeom prst="rect">
            <a:avLst/>
          </a:prstGeom>
          <a:noFill/>
          <a:ln/>
        </p:spPr>
        <p:txBody>
          <a:bodyPr wrap="square" rtlCol="0" anchor="ctr"/>
          <a:lstStyle/>
          <a:p>
            <a:pPr algn="l" indent="0" marL="0">
              <a:lnSpc>
                <a:spcPct val="140000"/>
              </a:lnSpc>
              <a:buNone/>
            </a:pPr>
            <a:r>
              <a:rPr lang="en-US" sz="1575" b="1" dirty="0">
                <a:solidFill>
                  <a:srgbClr val="94A3B8"/>
                </a:solidFill>
                <a:latin typeface="Inter" pitchFamily="34" charset="0"/>
                <a:ea typeface="Inter" pitchFamily="34" charset="-122"/>
                <a:cs typeface="Inter" pitchFamily="34" charset="-120"/>
              </a:rPr>
              <a:t>TARGET PERFORMANCE KPI</a:t>
            </a:r>
            <a:endParaRPr lang="en-US" sz="1575" dirty="0"/>
          </a:p>
          <a:p>
            <a:pPr algn="l" indent="0" marL="0">
              <a:lnSpc>
                <a:spcPct val="140000"/>
              </a:lnSpc>
              <a:buNone/>
            </a:pPr>
            <a:r>
              <a:rPr lang="en-US" sz="1575" b="1" dirty="0">
                <a:solidFill>
                  <a:srgbClr val="FF5A1F"/>
                </a:solidFill>
                <a:latin typeface="Inter" pitchFamily="34" charset="0"/>
                <a:ea typeface="Inter" pitchFamily="34" charset="-122"/>
                <a:cs typeface="Inter" pitchFamily="34" charset="-120"/>
              </a:rPr>
              <a:t>98.5%+</a:t>
            </a:r>
            <a:endParaRPr lang="en-US" sz="1575" dirty="0"/>
          </a:p>
          <a:p>
            <a:pPr algn="l" indent="0" marL="0">
              <a:lnSpc>
                <a:spcPct val="140000"/>
              </a:lnSpc>
              <a:buNone/>
            </a:pPr>
            <a:r>
              <a:rPr lang="en-US" sz="1575" b="1" dirty="0">
                <a:solidFill>
                  <a:srgbClr val="FFFFFF"/>
                </a:solidFill>
                <a:latin typeface="Inter" pitchFamily="34" charset="0"/>
                <a:ea typeface="Inter" pitchFamily="34" charset="-122"/>
                <a:cs typeface="Inter" pitchFamily="34" charset="-120"/>
              </a:rPr>
              <a:t> Classification Accuracy</a:t>
            </a:r>
            <a:endParaRPr lang="en-US" sz="1575" dirty="0"/>
          </a:p>
          <a:p>
            <a:pPr algn="l" indent="0" marL="0">
              <a:lnSpc>
                <a:spcPct val="140000"/>
              </a:lnSpc>
              <a:buNone/>
            </a:pPr>
            <a:r>
              <a:rPr lang="en-US" sz="1575" dirty="0">
                <a:solidFill>
                  <a:srgbClr val="38BDF8"/>
                </a:solidFill>
                <a:latin typeface="Inter" pitchFamily="34" charset="0"/>
                <a:ea typeface="Inter" pitchFamily="34" charset="-122"/>
                <a:cs typeface="Inter" pitchFamily="34" charset="-120"/>
              </a:rPr>
              <a:t>&lt;0.1% False Positive Rate (Ham marked as Spam)</a:t>
            </a:r>
            <a:endParaRPr lang="en-US" sz="1575" dirty="0"/>
          </a:p>
        </p:txBody>
      </p:sp>
      <p:pic>
        <p:nvPicPr>
          <p:cNvPr id="7" name="Image 1" descr="preencoded.png">    </p:cNvPr>
          <p:cNvPicPr>
            <a:picLocks noChangeAspect="1"/>
          </p:cNvPicPr>
          <p:nvPr/>
        </p:nvPicPr>
        <p:blipFill>
          <a:blip r:embed="rId3"/>
          <a:stretch>
            <a:fillRect/>
          </a:stretch>
        </p:blipFill>
        <p:spPr>
          <a:xfrm>
            <a:off x="6286500" y="2286000"/>
            <a:ext cx="11049000" cy="1524000"/>
          </a:xfrm>
          <a:prstGeom prst="rect">
            <a:avLst/>
          </a:prstGeom>
        </p:spPr>
      </p:pic>
      <p:sp>
        <p:nvSpPr>
          <p:cNvPr id="8" name="Text 4"/>
          <p:cNvSpPr/>
          <p:nvPr/>
        </p:nvSpPr>
        <p:spPr>
          <a:xfrm>
            <a:off x="6762750" y="2571750"/>
            <a:ext cx="10096500" cy="876300"/>
          </a:xfrm>
          <a:prstGeom prst="rect">
            <a:avLst/>
          </a:prstGeom>
          <a:noFill/>
          <a:ln/>
        </p:spPr>
        <p:txBody>
          <a:bodyPr wrap="square" rtlCol="0" anchor="ctr"/>
          <a:lstStyle/>
          <a:p>
            <a:pPr algn="l" indent="0" marL="0">
              <a:lnSpc>
                <a:spcPct val="140000"/>
              </a:lnSpc>
              <a:buNone/>
            </a:pPr>
            <a:r>
              <a:rPr lang="en-US" sz="1650" b="1" dirty="0">
                <a:solidFill>
                  <a:srgbClr val="FF5A1F"/>
                </a:solidFill>
                <a:latin typeface="Inter" pitchFamily="34" charset="0"/>
                <a:ea typeface="Inter" pitchFamily="34" charset="-122"/>
                <a:cs typeface="Inter" pitchFamily="34" charset="-120"/>
              </a:rPr>
              <a:t>01  /  Precise Spam vs. Ham Categorization</a:t>
            </a:r>
            <a:endParaRPr lang="en-US" sz="1650" dirty="0"/>
          </a:p>
          <a:p>
            <a:pPr algn="l" indent="0" marL="0">
              <a:lnSpc>
                <a:spcPct val="140000"/>
              </a:lnSpc>
              <a:buNone/>
            </a:pPr>
            <a:r>
              <a:rPr lang="en-US" sz="1650" dirty="0">
                <a:solidFill>
                  <a:srgbClr val="94A3B8"/>
                </a:solidFill>
                <a:latin typeface="Inter" pitchFamily="34" charset="0"/>
                <a:ea typeface="Inter" pitchFamily="34" charset="-122"/>
                <a:cs typeface="Inter" pitchFamily="34" charset="-120"/>
              </a:rPr>
              <a:t>Engineered to read raw text content and accurately map the data into discrete classes: Spam (malicious/unwanted) and Ham (valid/legitimate) without human intervention.</a:t>
            </a:r>
            <a:endParaRPr lang="en-US" sz="1650" dirty="0"/>
          </a:p>
        </p:txBody>
      </p:sp>
      <p:pic>
        <p:nvPicPr>
          <p:cNvPr id="9" name="Image 2" descr="preencoded.png">    </p:cNvPr>
          <p:cNvPicPr>
            <a:picLocks noChangeAspect="1"/>
          </p:cNvPicPr>
          <p:nvPr/>
        </p:nvPicPr>
        <p:blipFill>
          <a:blip r:embed="rId4"/>
          <a:stretch>
            <a:fillRect/>
          </a:stretch>
        </p:blipFill>
        <p:spPr>
          <a:xfrm>
            <a:off x="6286500" y="4048125"/>
            <a:ext cx="11049000" cy="1524000"/>
          </a:xfrm>
          <a:prstGeom prst="rect">
            <a:avLst/>
          </a:prstGeom>
        </p:spPr>
      </p:pic>
      <p:sp>
        <p:nvSpPr>
          <p:cNvPr id="10" name="Text 5"/>
          <p:cNvSpPr/>
          <p:nvPr/>
        </p:nvSpPr>
        <p:spPr>
          <a:xfrm>
            <a:off x="6762750" y="4267200"/>
            <a:ext cx="10096500" cy="876300"/>
          </a:xfrm>
          <a:prstGeom prst="rect">
            <a:avLst/>
          </a:prstGeom>
          <a:noFill/>
          <a:ln/>
        </p:spPr>
        <p:txBody>
          <a:bodyPr wrap="square" rtlCol="0" anchor="ctr"/>
          <a:lstStyle/>
          <a:p>
            <a:pPr algn="l" indent="0" marL="0">
              <a:lnSpc>
                <a:spcPct val="140000"/>
              </a:lnSpc>
              <a:buNone/>
            </a:pPr>
            <a:r>
              <a:rPr lang="en-US" sz="1650" b="1" dirty="0">
                <a:solidFill>
                  <a:srgbClr val="38BDF8"/>
                </a:solidFill>
                <a:latin typeface="Inter" pitchFamily="34" charset="0"/>
                <a:ea typeface="Inter" pitchFamily="34" charset="-122"/>
                <a:cs typeface="Inter" pitchFamily="34" charset="-120"/>
              </a:rPr>
              <a:t>02  /  NLP and Feature Extraction</a:t>
            </a:r>
            <a:endParaRPr lang="en-US" sz="1650" dirty="0"/>
          </a:p>
          <a:p>
            <a:pPr algn="l" indent="0" marL="0">
              <a:lnSpc>
                <a:spcPct val="140000"/>
              </a:lnSpc>
              <a:buNone/>
            </a:pPr>
            <a:r>
              <a:rPr lang="en-US" sz="1650" dirty="0">
                <a:solidFill>
                  <a:srgbClr val="94A3B8"/>
                </a:solidFill>
                <a:latin typeface="Inter" pitchFamily="34" charset="0"/>
                <a:ea typeface="Inter" pitchFamily="34" charset="-122"/>
                <a:cs typeface="Inter" pitchFamily="34" charset="-120"/>
              </a:rPr>
              <a:t>Incorporate advanced Natural Language Processing techniques like lowercasing, tokenization, stopword removal, and TF-IDF to translate human semantics into machine-readable numeric vectors.</a:t>
            </a:r>
            <a:endParaRPr lang="en-US" sz="1650" dirty="0"/>
          </a:p>
        </p:txBody>
      </p:sp>
      <p:pic>
        <p:nvPicPr>
          <p:cNvPr id="11" name="Image 3" descr="preencoded.png">    </p:cNvPr>
          <p:cNvPicPr>
            <a:picLocks noChangeAspect="1"/>
          </p:cNvPicPr>
          <p:nvPr/>
        </p:nvPicPr>
        <p:blipFill>
          <a:blip r:embed="rId5"/>
          <a:stretch>
            <a:fillRect/>
          </a:stretch>
        </p:blipFill>
        <p:spPr>
          <a:xfrm>
            <a:off x="6285967" y="5810250"/>
            <a:ext cx="11049000" cy="1524000"/>
          </a:xfrm>
          <a:prstGeom prst="rect">
            <a:avLst/>
          </a:prstGeom>
        </p:spPr>
      </p:pic>
      <p:sp>
        <p:nvSpPr>
          <p:cNvPr id="12" name="Text 6"/>
          <p:cNvSpPr/>
          <p:nvPr/>
        </p:nvSpPr>
        <p:spPr>
          <a:xfrm>
            <a:off x="6762750" y="6096000"/>
            <a:ext cx="10096500" cy="838200"/>
          </a:xfrm>
          <a:prstGeom prst="rect">
            <a:avLst/>
          </a:prstGeom>
          <a:noFill/>
          <a:ln/>
        </p:spPr>
        <p:txBody>
          <a:bodyPr wrap="square" rtlCol="0" anchor="ctr"/>
          <a:lstStyle/>
          <a:p>
            <a:pPr algn="l" indent="0" marL="0">
              <a:lnSpc>
                <a:spcPct val="140000"/>
              </a:lnSpc>
              <a:buNone/>
            </a:pPr>
            <a:r>
              <a:rPr lang="en-US" sz="1575" b="1" dirty="0">
                <a:solidFill>
                  <a:srgbClr val="10B981"/>
                </a:solidFill>
                <a:latin typeface="Inter" pitchFamily="34" charset="0"/>
                <a:ea typeface="Inter" pitchFamily="34" charset="-122"/>
                <a:cs typeface="Inter" pitchFamily="34" charset="-120"/>
              </a:rPr>
              <a:t>03  /  Robust Communication Shield</a:t>
            </a:r>
            <a:endParaRPr lang="en-US" sz="1575" dirty="0"/>
          </a:p>
          <a:p>
            <a:pPr algn="l" indent="0" marL="0">
              <a:lnSpc>
                <a:spcPct val="140000"/>
              </a:lnSpc>
              <a:buNone/>
            </a:pPr>
            <a:r>
              <a:rPr lang="en-US" sz="1575" dirty="0">
                <a:solidFill>
                  <a:srgbClr val="94A3B8"/>
                </a:solidFill>
                <a:latin typeface="Inter" pitchFamily="34" charset="0"/>
                <a:ea typeface="Inter" pitchFamily="34" charset="-122"/>
                <a:cs typeface="Inter" pitchFamily="34" charset="-120"/>
              </a:rPr>
              <a:t>Directly improve inbox security by creating a low-latency, real-time classifier that keeps corporate communication clean, reducing phishing attempts and safeguarding users.</a:t>
            </a:r>
            <a:endParaRPr lang="en-US" sz="15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03  /  DATASET DESCRIPTION</a:t>
            </a:r>
            <a:endParaRPr lang="en-US" sz="1200" dirty="0"/>
          </a:p>
        </p:txBody>
      </p:sp>
      <p:sp>
        <p:nvSpPr>
          <p:cNvPr id="3" name="Text 1"/>
          <p:cNvSpPr/>
          <p:nvPr/>
        </p:nvSpPr>
        <p:spPr>
          <a:xfrm>
            <a:off x="952500" y="1143000"/>
            <a:ext cx="11430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SMS Spam Collection Repository</a:t>
            </a:r>
            <a:endParaRPr lang="en-US" sz="3300" dirty="0"/>
          </a:p>
        </p:txBody>
      </p:sp>
      <p:pic>
        <p:nvPicPr>
          <p:cNvPr id="4" name="Image 0" descr="preencoded.png">    </p:cNvPr>
          <p:cNvPicPr>
            <a:picLocks noChangeAspect="1"/>
          </p:cNvPicPr>
          <p:nvPr/>
        </p:nvPicPr>
        <p:blipFill>
          <a:blip r:embed="rId2"/>
          <a:stretch>
            <a:fillRect/>
          </a:stretch>
        </p:blipFill>
        <p:spPr>
          <a:xfrm>
            <a:off x="952500" y="2286000"/>
            <a:ext cx="2476500" cy="1714500"/>
          </a:xfrm>
          <a:prstGeom prst="rect">
            <a:avLst/>
          </a:prstGeom>
        </p:spPr>
      </p:pic>
      <p:sp>
        <p:nvSpPr>
          <p:cNvPr id="5" name="Text 2"/>
          <p:cNvSpPr/>
          <p:nvPr/>
        </p:nvSpPr>
        <p:spPr>
          <a:xfrm>
            <a:off x="1143000" y="2571750"/>
            <a:ext cx="2095500" cy="723900"/>
          </a:xfrm>
          <a:prstGeom prst="rect">
            <a:avLst/>
          </a:prstGeom>
          <a:noFill/>
          <a:ln/>
        </p:spPr>
        <p:txBody>
          <a:bodyPr wrap="square" rtlCol="0" anchor="ctr"/>
          <a:lstStyle/>
          <a:p>
            <a:pPr algn="l" indent="0" marL="0">
              <a:lnSpc>
                <a:spcPct val="120000"/>
              </a:lnSpc>
              <a:buNone/>
            </a:pPr>
            <a:r>
              <a:rPr lang="en-US" sz="1575" b="1" dirty="0">
                <a:solidFill>
                  <a:srgbClr val="FFFFFF"/>
                </a:solidFill>
                <a:latin typeface="Inter" pitchFamily="34" charset="0"/>
                <a:ea typeface="Inter" pitchFamily="34" charset="-122"/>
                <a:cs typeface="Inter" pitchFamily="34" charset="-120"/>
              </a:rPr>
              <a:t>5,574</a:t>
            </a:r>
            <a:endParaRPr lang="en-US" sz="1575" dirty="0"/>
          </a:p>
          <a:p>
            <a:pPr algn="l" indent="0" marL="0">
              <a:lnSpc>
                <a:spcPct val="120000"/>
              </a:lnSpc>
              <a:buNone/>
            </a:pPr>
            <a:r>
              <a:rPr lang="en-US" sz="1575" b="1" dirty="0">
                <a:solidFill>
                  <a:srgbClr val="FF5A1F"/>
                </a:solidFill>
                <a:latin typeface="Inter" pitchFamily="34" charset="0"/>
                <a:ea typeface="Inter" pitchFamily="34" charset="-122"/>
                <a:cs typeface="Inter" pitchFamily="34" charset="-120"/>
              </a:rPr>
              <a:t>TOTAL MESSAGES</a:t>
            </a:r>
            <a:endParaRPr lang="en-US" sz="1575" dirty="0"/>
          </a:p>
          <a:p>
            <a:pPr algn="l" indent="0" marL="0">
              <a:lnSpc>
                <a:spcPct val="120000"/>
              </a:lnSpc>
              <a:buNone/>
            </a:pPr>
            <a:r>
              <a:rPr lang="en-US" sz="1575" dirty="0">
                <a:solidFill>
                  <a:srgbClr val="94A3B8"/>
                </a:solidFill>
                <a:latin typeface="Inter" pitchFamily="34" charset="0"/>
                <a:ea typeface="Inter" pitchFamily="34" charset="-122"/>
                <a:cs typeface="Inter" pitchFamily="34" charset="-120"/>
              </a:rPr>
              <a:t>SMS text corpus</a:t>
            </a:r>
            <a:endParaRPr lang="en-US" sz="1575" dirty="0"/>
          </a:p>
        </p:txBody>
      </p:sp>
      <p:pic>
        <p:nvPicPr>
          <p:cNvPr id="6" name="Image 1" descr="preencoded.png">    </p:cNvPr>
          <p:cNvPicPr>
            <a:picLocks noChangeAspect="1"/>
          </p:cNvPicPr>
          <p:nvPr/>
        </p:nvPicPr>
        <p:blipFill>
          <a:blip r:embed="rId3"/>
          <a:stretch>
            <a:fillRect/>
          </a:stretch>
        </p:blipFill>
        <p:spPr>
          <a:xfrm>
            <a:off x="3714750" y="2286000"/>
            <a:ext cx="2476500" cy="1714500"/>
          </a:xfrm>
          <a:prstGeom prst="rect">
            <a:avLst/>
          </a:prstGeom>
        </p:spPr>
      </p:pic>
      <p:sp>
        <p:nvSpPr>
          <p:cNvPr id="7" name="Text 3"/>
          <p:cNvSpPr/>
          <p:nvPr/>
        </p:nvSpPr>
        <p:spPr>
          <a:xfrm>
            <a:off x="3905250" y="2571750"/>
            <a:ext cx="2095500" cy="685800"/>
          </a:xfrm>
          <a:prstGeom prst="rect">
            <a:avLst/>
          </a:prstGeom>
          <a:noFill/>
          <a:ln/>
        </p:spPr>
        <p:txBody>
          <a:bodyPr wrap="square" rtlCol="0" anchor="ctr"/>
          <a:lstStyle/>
          <a:p>
            <a:pPr algn="l" indent="0" marL="0">
              <a:lnSpc>
                <a:spcPct val="120000"/>
              </a:lnSpc>
              <a:buNone/>
            </a:pPr>
            <a:r>
              <a:rPr lang="en-US" sz="1500" b="1" dirty="0">
                <a:solidFill>
                  <a:srgbClr val="FFFFFF"/>
                </a:solidFill>
                <a:latin typeface="Inter" pitchFamily="34" charset="0"/>
                <a:ea typeface="Inter" pitchFamily="34" charset="-122"/>
                <a:cs typeface="Inter" pitchFamily="34" charset="-120"/>
              </a:rPr>
              <a:t>4,827</a:t>
            </a:r>
            <a:endParaRPr lang="en-US" sz="1500" dirty="0"/>
          </a:p>
          <a:p>
            <a:pPr algn="l" indent="0" marL="0">
              <a:lnSpc>
                <a:spcPct val="120000"/>
              </a:lnSpc>
              <a:buNone/>
            </a:pPr>
            <a:r>
              <a:rPr lang="en-US" sz="1500" b="1" dirty="0">
                <a:solidFill>
                  <a:srgbClr val="10B981"/>
                </a:solidFill>
                <a:latin typeface="Inter" pitchFamily="34" charset="0"/>
                <a:ea typeface="Inter" pitchFamily="34" charset="-122"/>
                <a:cs typeface="Inter" pitchFamily="34" charset="-120"/>
              </a:rPr>
              <a:t>HAM (LEGITIMATE)</a:t>
            </a:r>
            <a:endParaRPr lang="en-US" sz="1500" dirty="0"/>
          </a:p>
          <a:p>
            <a:pPr algn="l" indent="0" marL="0">
              <a:lnSpc>
                <a:spcPct val="120000"/>
              </a:lnSpc>
              <a:buNone/>
            </a:pPr>
            <a:r>
              <a:rPr lang="en-US" sz="1500" dirty="0">
                <a:solidFill>
                  <a:srgbClr val="94A3B8"/>
                </a:solidFill>
                <a:latin typeface="Inter" pitchFamily="34" charset="0"/>
                <a:ea typeface="Inter" pitchFamily="34" charset="-122"/>
                <a:cs typeface="Inter" pitchFamily="34" charset="-120"/>
              </a:rPr>
              <a:t>86.6% of dataset</a:t>
            </a:r>
            <a:endParaRPr lang="en-US" sz="1500" dirty="0"/>
          </a:p>
        </p:txBody>
      </p:sp>
      <p:pic>
        <p:nvPicPr>
          <p:cNvPr id="8" name="Image 2" descr="preencoded.png">    </p:cNvPr>
          <p:cNvPicPr>
            <a:picLocks noChangeAspect="1"/>
          </p:cNvPicPr>
          <p:nvPr/>
        </p:nvPicPr>
        <p:blipFill>
          <a:blip r:embed="rId4"/>
          <a:stretch>
            <a:fillRect/>
          </a:stretch>
        </p:blipFill>
        <p:spPr>
          <a:xfrm>
            <a:off x="6477000" y="2286000"/>
            <a:ext cx="2476500" cy="1714500"/>
          </a:xfrm>
          <a:prstGeom prst="rect">
            <a:avLst/>
          </a:prstGeom>
        </p:spPr>
      </p:pic>
      <p:sp>
        <p:nvSpPr>
          <p:cNvPr id="9" name="Text 4"/>
          <p:cNvSpPr/>
          <p:nvPr/>
        </p:nvSpPr>
        <p:spPr>
          <a:xfrm>
            <a:off x="6667500" y="2571750"/>
            <a:ext cx="2095500" cy="685800"/>
          </a:xfrm>
          <a:prstGeom prst="rect">
            <a:avLst/>
          </a:prstGeom>
          <a:noFill/>
          <a:ln/>
        </p:spPr>
        <p:txBody>
          <a:bodyPr wrap="square" rtlCol="0" anchor="ctr"/>
          <a:lstStyle/>
          <a:p>
            <a:pPr algn="l" indent="0" marL="0">
              <a:lnSpc>
                <a:spcPct val="120000"/>
              </a:lnSpc>
              <a:buNone/>
            </a:pPr>
            <a:r>
              <a:rPr lang="en-US" sz="1500" b="1" dirty="0">
                <a:solidFill>
                  <a:srgbClr val="FFFFFF"/>
                </a:solidFill>
                <a:latin typeface="Inter" pitchFamily="34" charset="0"/>
                <a:ea typeface="Inter" pitchFamily="34" charset="-122"/>
                <a:cs typeface="Inter" pitchFamily="34" charset="-120"/>
              </a:rPr>
              <a:t>747</a:t>
            </a:r>
            <a:endParaRPr lang="en-US" sz="1500" dirty="0"/>
          </a:p>
          <a:p>
            <a:pPr algn="l" indent="0" marL="0">
              <a:lnSpc>
                <a:spcPct val="120000"/>
              </a:lnSpc>
              <a:buNone/>
            </a:pPr>
            <a:r>
              <a:rPr lang="en-US" sz="1500" b="1" dirty="0">
                <a:solidFill>
                  <a:srgbClr val="EF4444"/>
                </a:solidFill>
                <a:latin typeface="Inter" pitchFamily="34" charset="0"/>
                <a:ea typeface="Inter" pitchFamily="34" charset="-122"/>
                <a:cs typeface="Inter" pitchFamily="34" charset="-120"/>
              </a:rPr>
              <a:t>SPAM (THREATS)</a:t>
            </a:r>
            <a:endParaRPr lang="en-US" sz="1500" dirty="0"/>
          </a:p>
          <a:p>
            <a:pPr algn="l" indent="0" marL="0">
              <a:lnSpc>
                <a:spcPct val="120000"/>
              </a:lnSpc>
              <a:buNone/>
            </a:pPr>
            <a:r>
              <a:rPr lang="en-US" sz="1500" dirty="0">
                <a:solidFill>
                  <a:srgbClr val="94A3B8"/>
                </a:solidFill>
                <a:latin typeface="Inter" pitchFamily="34" charset="0"/>
                <a:ea typeface="Inter" pitchFamily="34" charset="-122"/>
                <a:cs typeface="Inter" pitchFamily="34" charset="-120"/>
              </a:rPr>
              <a:t>13.4% of dataset</a:t>
            </a:r>
            <a:endParaRPr lang="en-US" sz="1500" dirty="0"/>
          </a:p>
        </p:txBody>
      </p:sp>
      <p:pic>
        <p:nvPicPr>
          <p:cNvPr id="10" name="Image 3" descr="preencoded.png">    </p:cNvPr>
          <p:cNvPicPr>
            <a:picLocks noChangeAspect="1"/>
          </p:cNvPicPr>
          <p:nvPr/>
        </p:nvPicPr>
        <p:blipFill>
          <a:blip r:embed="rId5"/>
          <a:stretch>
            <a:fillRect/>
          </a:stretch>
        </p:blipFill>
        <p:spPr>
          <a:xfrm>
            <a:off x="952500" y="4286250"/>
            <a:ext cx="8001000" cy="3619500"/>
          </a:xfrm>
          <a:prstGeom prst="rect">
            <a:avLst/>
          </a:prstGeom>
        </p:spPr>
      </p:pic>
      <p:sp>
        <p:nvSpPr>
          <p:cNvPr id="11" name="Text 5"/>
          <p:cNvSpPr/>
          <p:nvPr/>
        </p:nvSpPr>
        <p:spPr>
          <a:xfrm>
            <a:off x="1142476" y="4467701"/>
            <a:ext cx="7239000" cy="3200400"/>
          </a:xfrm>
          <a:prstGeom prst="rect">
            <a:avLst/>
          </a:prstGeom>
          <a:noFill/>
          <a:ln/>
        </p:spPr>
        <p:txBody>
          <a:bodyPr wrap="square" rtlCol="0" anchor="ctr"/>
          <a:lstStyle/>
          <a:p>
            <a:pPr algn="l" indent="0" marL="0">
              <a:lnSpc>
                <a:spcPct val="160000"/>
              </a:lnSpc>
              <a:buNone/>
            </a:pPr>
            <a:r>
              <a:rPr lang="en-US" sz="1575" b="1" dirty="0">
                <a:solidFill>
                  <a:srgbClr val="FFFFFF"/>
                </a:solidFill>
                <a:latin typeface="Inter" pitchFamily="34" charset="0"/>
                <a:ea typeface="Inter" pitchFamily="34" charset="-122"/>
                <a:cs typeface="Inter" pitchFamily="34" charset="-120"/>
              </a:rPr>
              <a:t>Dataset Metadata &amp; Insights</a:t>
            </a:r>
            <a:endParaRPr lang="en-US" sz="1575" dirty="0"/>
          </a:p>
          <a:p>
            <a:pPr algn="l" marL="342900" indent="-342900">
              <a:lnSpc>
                <a:spcPct val="160000"/>
              </a:lnSpc>
              <a:buSzPct val="100000"/>
              <a:buChar char="•"/>
            </a:pPr>
            <a:r>
              <a:rPr lang="en-US" sz="1575" b="1" dirty="0">
                <a:solidFill>
                  <a:srgbClr val="FF5A1F"/>
                </a:solidFill>
                <a:latin typeface="Inter" pitchFamily="34" charset="0"/>
                <a:ea typeface="Inter" pitchFamily="34" charset="-122"/>
                <a:cs typeface="Inter" pitchFamily="34" charset="-120"/>
              </a:rPr>
              <a:t>Source: </a:t>
            </a:r>
            <a:endParaRPr lang="en-US" sz="1575" dirty="0"/>
          </a:p>
          <a:p>
            <a:pPr algn="l" indent="0" marL="0">
              <a:lnSpc>
                <a:spcPct val="160000"/>
              </a:lnSpc>
              <a:buNone/>
            </a:pPr>
            <a:r>
              <a:rPr lang="en-US" sz="1575" dirty="0">
                <a:solidFill>
                  <a:srgbClr val="94A3B8"/>
                </a:solidFill>
                <a:latin typeface="Inter" pitchFamily="34" charset="0"/>
                <a:ea typeface="Inter" pitchFamily="34" charset="-122"/>
                <a:cs typeface="Inter" pitchFamily="34" charset="-120"/>
              </a:rPr>
              <a:t>UCI Machine Learning Repository. Collected for research purposes in mobile phone spam detection.</a:t>
            </a:r>
            <a:endParaRPr lang="en-US" sz="1575" dirty="0"/>
          </a:p>
          <a:p>
            <a:pPr algn="l" marL="342900" indent="-342900">
              <a:lnSpc>
                <a:spcPct val="160000"/>
              </a:lnSpc>
              <a:buSzPct val="100000"/>
              <a:buChar char="•"/>
            </a:pPr>
            <a:r>
              <a:rPr lang="en-US" sz="1575" b="1" dirty="0">
                <a:solidFill>
                  <a:srgbClr val="FF5A1F"/>
                </a:solidFill>
                <a:latin typeface="Inter" pitchFamily="34" charset="0"/>
                <a:ea typeface="Inter" pitchFamily="34" charset="-122"/>
                <a:cs typeface="Inter" pitchFamily="34" charset="-120"/>
              </a:rPr>
              <a:t>Type: </a:t>
            </a:r>
            <a:endParaRPr lang="en-US" sz="1575" dirty="0"/>
          </a:p>
          <a:p>
            <a:pPr algn="l" indent="0" marL="0">
              <a:lnSpc>
                <a:spcPct val="160000"/>
              </a:lnSpc>
              <a:buNone/>
            </a:pPr>
            <a:r>
              <a:rPr lang="en-US" sz="1575" dirty="0">
                <a:solidFill>
                  <a:srgbClr val="94A3B8"/>
                </a:solidFill>
                <a:latin typeface="Inter" pitchFamily="34" charset="0"/>
                <a:ea typeface="Inter" pitchFamily="34" charset="-122"/>
                <a:cs typeface="Inter" pitchFamily="34" charset="-120"/>
              </a:rPr>
              <a:t>Unstructured raw text data containing single-line SMS messages labeled either as 'ham' or 'spam'.</a:t>
            </a:r>
            <a:endParaRPr lang="en-US" sz="1575" dirty="0"/>
          </a:p>
          <a:p>
            <a:pPr algn="l" marL="342900" indent="-342900">
              <a:lnSpc>
                <a:spcPct val="160000"/>
              </a:lnSpc>
              <a:buSzPct val="100000"/>
              <a:buChar char="•"/>
            </a:pPr>
            <a:r>
              <a:rPr lang="en-US" sz="1575" b="1" dirty="0">
                <a:solidFill>
                  <a:srgbClr val="FF5A1F"/>
                </a:solidFill>
                <a:latin typeface="Inter" pitchFamily="34" charset="0"/>
                <a:ea typeface="Inter" pitchFamily="34" charset="-122"/>
                <a:cs typeface="Inter" pitchFamily="34" charset="-120"/>
              </a:rPr>
              <a:t>Language: </a:t>
            </a:r>
            <a:endParaRPr lang="en-US" sz="1575" dirty="0"/>
          </a:p>
          <a:p>
            <a:pPr algn="l" indent="0" marL="0">
              <a:lnSpc>
                <a:spcPct val="160000"/>
              </a:lnSpc>
              <a:buNone/>
            </a:pPr>
            <a:r>
              <a:rPr lang="en-US" sz="1575" dirty="0">
                <a:solidFill>
                  <a:srgbClr val="94A3B8"/>
                </a:solidFill>
                <a:latin typeface="Inter" pitchFamily="34" charset="0"/>
                <a:ea typeface="Inter" pitchFamily="34" charset="-122"/>
                <a:cs typeface="Inter" pitchFamily="34" charset="-120"/>
              </a:rPr>
              <a:t>Predominantly English, including conversational slang, abbreviations, symbols, and links.</a:t>
            </a:r>
            <a:endParaRPr lang="en-US" sz="1575" dirty="0"/>
          </a:p>
        </p:txBody>
      </p:sp>
      <p:pic>
        <p:nvPicPr>
          <p:cNvPr id="12" name="Image 4" descr="preencoded.png">    </p:cNvPr>
          <p:cNvPicPr>
            <a:picLocks noChangeAspect="1"/>
          </p:cNvPicPr>
          <p:nvPr/>
        </p:nvPicPr>
        <p:blipFill>
          <a:blip r:embed="rId6"/>
          <a:stretch>
            <a:fillRect/>
          </a:stretch>
        </p:blipFill>
        <p:spPr>
          <a:xfrm>
            <a:off x="9334500" y="2286000"/>
            <a:ext cx="8001000" cy="5619750"/>
          </a:xfrm>
          <a:prstGeom prst="rect">
            <a:avLst/>
          </a:prstGeom>
        </p:spPr>
      </p:pic>
      <p:sp>
        <p:nvSpPr>
          <p:cNvPr id="13" name="Text 6"/>
          <p:cNvSpPr/>
          <p:nvPr/>
        </p:nvSpPr>
        <p:spPr>
          <a:xfrm>
            <a:off x="9715500" y="2667000"/>
            <a:ext cx="7239000" cy="209550"/>
          </a:xfrm>
          <a:prstGeom prst="rect">
            <a:avLst/>
          </a:prstGeom>
          <a:noFill/>
          <a:ln/>
        </p:spPr>
        <p:txBody>
          <a:bodyPr wrap="square" rtlCol="0" anchor="ctr"/>
          <a:lstStyle/>
          <a:p>
            <a:pPr algn="l" indent="0" marL="0">
              <a:lnSpc>
                <a:spcPct val="120000"/>
              </a:lnSpc>
              <a:buNone/>
            </a:pPr>
            <a:r>
              <a:rPr lang="en-US" sz="1350" b="1" dirty="0">
                <a:solidFill>
                  <a:srgbClr val="FF5A1F"/>
                </a:solidFill>
                <a:latin typeface="Montserrat" pitchFamily="34" charset="0"/>
                <a:ea typeface="Montserrat" pitchFamily="34" charset="-122"/>
                <a:cs typeface="Montserrat" pitchFamily="34" charset="-120"/>
              </a:rPr>
              <a:t>RAW DATASET CORRECTIONS &amp; PREVIEW</a:t>
            </a:r>
            <a:endParaRPr lang="en-US" sz="1350" dirty="0"/>
          </a:p>
        </p:txBody>
      </p:sp>
      <p:sp>
        <p:nvSpPr>
          <p:cNvPr id="14" name="Text 7"/>
          <p:cNvSpPr/>
          <p:nvPr/>
        </p:nvSpPr>
        <p:spPr>
          <a:xfrm>
            <a:off x="9715500" y="3256759"/>
            <a:ext cx="7239000" cy="3962400"/>
          </a:xfrm>
          <a:prstGeom prst="rect">
            <a:avLst/>
          </a:prstGeom>
          <a:noFill/>
          <a:ln/>
        </p:spPr>
        <p:txBody>
          <a:bodyPr wrap="square" rtlCol="0" anchor="ctr"/>
          <a:lstStyle/>
          <a:p>
            <a:pPr algn="l" indent="0" marL="0">
              <a:lnSpc>
                <a:spcPct val="180000"/>
              </a:lnSpc>
              <a:buNone/>
            </a:pPr>
            <a:r>
              <a:rPr lang="en-US" sz="1575" i="1" dirty="0">
                <a:solidFill>
                  <a:srgbClr val="4B5563"/>
                </a:solidFill>
                <a:latin typeface="Inter" pitchFamily="34" charset="0"/>
                <a:ea typeface="Inter" pitchFamily="34" charset="-122"/>
                <a:cs typeface="Inter" pitchFamily="34" charset="-120"/>
              </a:rPr>
              <a:t># Loading dataset using Pandas DataFrame</a:t>
            </a:r>
            <a:endParaRPr lang="en-US" sz="1575" dirty="0"/>
          </a:p>
          <a:p>
            <a:pPr algn="l" indent="0" marL="0">
              <a:lnSpc>
                <a:spcPct val="180000"/>
              </a:lnSpc>
              <a:buNone/>
            </a:pPr>
            <a:r>
              <a:rPr lang="en-US" sz="1575" dirty="0">
                <a:solidFill>
                  <a:srgbClr val="38BDF8"/>
                </a:solidFill>
                <a:latin typeface="Inter" pitchFamily="34" charset="0"/>
                <a:ea typeface="Inter" pitchFamily="34" charset="-122"/>
                <a:cs typeface="Inter" pitchFamily="34" charset="-120"/>
              </a:rPr>
              <a:t>import pandas as pd</a:t>
            </a:r>
            <a:endParaRPr lang="en-US" sz="1575" dirty="0"/>
          </a:p>
          <a:p>
            <a:pPr algn="l" indent="0" marL="0">
              <a:lnSpc>
                <a:spcPct val="180000"/>
              </a:lnSpc>
              <a:buNone/>
            </a:pPr>
            <a:r>
              <a:rPr lang="en-US" sz="1575" dirty="0">
                <a:solidFill>
                  <a:srgbClr val="38BDF8"/>
                </a:solidFill>
                <a:latin typeface="Inter" pitchFamily="34" charset="0"/>
                <a:ea typeface="Inter" pitchFamily="34" charset="-122"/>
                <a:cs typeface="Inter" pitchFamily="34" charset="-120"/>
              </a:rPr>
              <a:t>df = pd.read_csv('spam.csv', encoding='latin-1')</a:t>
            </a:r>
            <a:endParaRPr lang="en-US" sz="1575" dirty="0"/>
          </a:p>
          <a:p>
            <a:pPr algn="l" indent="0" marL="0">
              <a:lnSpc>
                <a:spcPct val="180000"/>
              </a:lnSpc>
              <a:buNone/>
            </a:pPr>
            <a:r>
              <a:rPr lang="en-US" sz="1575" dirty="0">
                <a:solidFill>
                  <a:srgbClr val="38BDF8"/>
                </a:solidFill>
                <a:latin typeface="Inter" pitchFamily="34" charset="0"/>
                <a:ea typeface="Inter" pitchFamily="34" charset="-122"/>
                <a:cs typeface="Inter" pitchFamily="34" charset="-120"/>
              </a:rPr>
              <a:t>df.head()</a:t>
            </a:r>
            <a:endParaRPr lang="en-US" sz="1575" dirty="0"/>
          </a:p>
          <a:p>
            <a:pPr algn="l" indent="0" marL="0">
              <a:lnSpc>
                <a:spcPct val="180000"/>
              </a:lnSpc>
              <a:buNone/>
            </a:pPr>
            <a:r>
              <a:rPr lang="en-US" sz="1575" b="1" dirty="0">
                <a:solidFill>
                  <a:srgbClr val="94A3B8"/>
                </a:solidFill>
                <a:latin typeface="Inter" pitchFamily="34" charset="0"/>
                <a:ea typeface="Inter" pitchFamily="34" charset="-122"/>
                <a:cs typeface="Inter" pitchFamily="34" charset="-120"/>
              </a:rPr>
              <a:t>--- OUTLINE SNAPSHOT ---</a:t>
            </a:r>
            <a:endParaRPr lang="en-US" sz="1575" dirty="0"/>
          </a:p>
          <a:p>
            <a:pPr algn="l" indent="0" marL="0">
              <a:lnSpc>
                <a:spcPct val="180000"/>
              </a:lnSpc>
              <a:buNone/>
            </a:pPr>
            <a:r>
              <a:rPr lang="en-US" sz="1575" b="1" dirty="0">
                <a:solidFill>
                  <a:srgbClr val="FFFFFF"/>
                </a:solidFill>
                <a:latin typeface="Inter" pitchFamily="34" charset="0"/>
                <a:ea typeface="Inter" pitchFamily="34" charset="-122"/>
                <a:cs typeface="Inter" pitchFamily="34" charset="-120"/>
              </a:rPr>
              <a:t>[Label]     [Message Body]</a:t>
            </a:r>
            <a:endParaRPr lang="en-US" sz="1575" dirty="0"/>
          </a:p>
          <a:p>
            <a:pPr algn="l" indent="0" marL="0">
              <a:lnSpc>
                <a:spcPct val="180000"/>
              </a:lnSpc>
              <a:buNone/>
            </a:pPr>
            <a:r>
              <a:rPr lang="en-US" sz="1575" dirty="0">
                <a:solidFill>
                  <a:srgbClr val="10B981"/>
                </a:solidFill>
                <a:latin typeface="Inter" pitchFamily="34" charset="0"/>
                <a:ea typeface="Inter" pitchFamily="34" charset="-122"/>
                <a:cs typeface="Inter" pitchFamily="34" charset="-120"/>
              </a:rPr>
              <a:t>ham         Go until jurong point, crazy.. Available only in...</a:t>
            </a:r>
            <a:endParaRPr lang="en-US" sz="1575" dirty="0"/>
          </a:p>
          <a:p>
            <a:pPr algn="l" indent="0" marL="0">
              <a:lnSpc>
                <a:spcPct val="180000"/>
              </a:lnSpc>
              <a:buNone/>
            </a:pPr>
            <a:r>
              <a:rPr lang="en-US" sz="1575" dirty="0">
                <a:solidFill>
                  <a:srgbClr val="EF4444"/>
                </a:solidFill>
                <a:latin typeface="Inter" pitchFamily="34" charset="0"/>
                <a:ea typeface="Inter" pitchFamily="34" charset="-122"/>
                <a:cs typeface="Inter" pitchFamily="34" charset="-120"/>
              </a:rPr>
              <a:t>spam        Free entry in 2 a wkly comp to win FA Cup final...</a:t>
            </a:r>
            <a:endParaRPr lang="en-US" sz="1575" dirty="0"/>
          </a:p>
          <a:p>
            <a:pPr algn="l" indent="0" marL="0">
              <a:lnSpc>
                <a:spcPct val="180000"/>
              </a:lnSpc>
              <a:buNone/>
            </a:pPr>
            <a:r>
              <a:rPr lang="en-US" sz="1575" dirty="0">
                <a:solidFill>
                  <a:srgbClr val="10B981"/>
                </a:solidFill>
                <a:latin typeface="Inter" pitchFamily="34" charset="0"/>
                <a:ea typeface="Inter" pitchFamily="34" charset="-122"/>
                <a:cs typeface="Inter" pitchFamily="34" charset="-120"/>
              </a:rPr>
              <a:t>ham         U dun say so early hor... U c already then say...</a:t>
            </a:r>
            <a:endParaRPr lang="en-US" sz="1575" dirty="0"/>
          </a:p>
          <a:p>
            <a:pPr algn="l" indent="0" marL="0">
              <a:lnSpc>
                <a:spcPct val="180000"/>
              </a:lnSpc>
              <a:buNone/>
            </a:pPr>
            <a:r>
              <a:rPr lang="en-US" sz="1575" dirty="0">
                <a:solidFill>
                  <a:srgbClr val="10B981"/>
                </a:solidFill>
                <a:latin typeface="Inter" pitchFamily="34" charset="0"/>
                <a:ea typeface="Inter" pitchFamily="34" charset="-122"/>
                <a:cs typeface="Inter" pitchFamily="34" charset="-120"/>
              </a:rPr>
              <a:t>ham         Nah I don't think he goes to usf, he lives around...</a:t>
            </a:r>
            <a:endParaRPr lang="en-US" sz="1575" dirty="0"/>
          </a:p>
          <a:p>
            <a:pPr algn="l" indent="0" marL="0">
              <a:lnSpc>
                <a:spcPct val="180000"/>
              </a:lnSpc>
              <a:buNone/>
            </a:pPr>
            <a:r>
              <a:rPr lang="en-US" sz="1575" dirty="0">
                <a:solidFill>
                  <a:srgbClr val="EF4444"/>
                </a:solidFill>
                <a:latin typeface="Inter" pitchFamily="34" charset="0"/>
                <a:ea typeface="Inter" pitchFamily="34" charset="-122"/>
                <a:cs typeface="Inter" pitchFamily="34" charset="-120"/>
              </a:rPr>
              <a:t>spam        FreeMsg: Txt: CALL to 86888 &amp; claim your free prize!</a:t>
            </a:r>
            <a:endParaRPr lang="en-US" sz="15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04  /  DATA VISUALIZATION</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Exploratory Data Analysis (EDA) Insights</a:t>
            </a:r>
            <a:endParaRPr lang="en-US" sz="3300" dirty="0"/>
          </a:p>
        </p:txBody>
      </p:sp>
      <p:pic>
        <p:nvPicPr>
          <p:cNvPr id="4" name="Image 0" descr="preencoded.png">    </p:cNvPr>
          <p:cNvPicPr>
            <a:picLocks noChangeAspect="1"/>
          </p:cNvPicPr>
          <p:nvPr/>
        </p:nvPicPr>
        <p:blipFill>
          <a:blip r:embed="rId2"/>
          <a:stretch>
            <a:fillRect/>
          </a:stretch>
        </p:blipFill>
        <p:spPr>
          <a:xfrm>
            <a:off x="952500" y="2286000"/>
            <a:ext cx="8001000" cy="2571750"/>
          </a:xfrm>
          <a:prstGeom prst="rect">
            <a:avLst/>
          </a:prstGeom>
        </p:spPr>
      </p:pic>
      <p:sp>
        <p:nvSpPr>
          <p:cNvPr id="5" name="Text 2"/>
          <p:cNvSpPr/>
          <p:nvPr/>
        </p:nvSpPr>
        <p:spPr>
          <a:xfrm>
            <a:off x="1333500" y="2571750"/>
            <a:ext cx="7239000" cy="247650"/>
          </a:xfrm>
          <a:prstGeom prst="rect">
            <a:avLst/>
          </a:prstGeom>
          <a:noFill/>
          <a:ln/>
        </p:spPr>
        <p:txBody>
          <a:bodyPr wrap="square" rtlCol="0" anchor="ctr"/>
          <a:lstStyle/>
          <a:p>
            <a:pPr algn="l" indent="0" marL="0">
              <a:lnSpc>
                <a:spcPct val="120000"/>
              </a:lnSpc>
              <a:buNone/>
            </a:pPr>
            <a:r>
              <a:rPr lang="en-US" sz="1650" b="1" dirty="0">
                <a:solidFill>
                  <a:srgbClr val="FFFFFF"/>
                </a:solidFill>
                <a:latin typeface="Montserrat" pitchFamily="34" charset="0"/>
                <a:ea typeface="Montserrat" pitchFamily="34" charset="-122"/>
                <a:cs typeface="Montserrat" pitchFamily="34" charset="-120"/>
              </a:rPr>
              <a:t>CLASS DISTRIBUTION SPLIT</a:t>
            </a:r>
            <a:endParaRPr lang="en-US" sz="1650" dirty="0"/>
          </a:p>
        </p:txBody>
      </p:sp>
      <p:pic>
        <p:nvPicPr>
          <p:cNvPr id="6" name="Image 1" descr="preencoded.png">    </p:cNvPr>
          <p:cNvPicPr>
            <a:picLocks noChangeAspect="1"/>
          </p:cNvPicPr>
          <p:nvPr/>
        </p:nvPicPr>
        <p:blipFill>
          <a:blip r:embed="rId3"/>
          <a:stretch>
            <a:fillRect/>
          </a:stretch>
        </p:blipFill>
        <p:spPr>
          <a:xfrm>
            <a:off x="1333500" y="3238500"/>
            <a:ext cx="6191250" cy="428625"/>
          </a:xfrm>
          <a:prstGeom prst="rect">
            <a:avLst/>
          </a:prstGeom>
        </p:spPr>
      </p:pic>
      <p:pic>
        <p:nvPicPr>
          <p:cNvPr id="7" name="Image 2" descr="preencoded.png">    </p:cNvPr>
          <p:cNvPicPr>
            <a:picLocks noChangeAspect="1"/>
          </p:cNvPicPr>
          <p:nvPr/>
        </p:nvPicPr>
        <p:blipFill>
          <a:blip r:embed="rId4"/>
          <a:stretch>
            <a:fillRect/>
          </a:stretch>
        </p:blipFill>
        <p:spPr>
          <a:xfrm>
            <a:off x="6667500" y="3238195"/>
            <a:ext cx="952500" cy="428625"/>
          </a:xfrm>
          <a:prstGeom prst="rect">
            <a:avLst/>
          </a:prstGeom>
        </p:spPr>
      </p:pic>
      <p:sp>
        <p:nvSpPr>
          <p:cNvPr id="8" name="Text 3"/>
          <p:cNvSpPr/>
          <p:nvPr/>
        </p:nvSpPr>
        <p:spPr>
          <a:xfrm>
            <a:off x="1333500" y="3743325"/>
            <a:ext cx="7239000" cy="1066800"/>
          </a:xfrm>
          <a:prstGeom prst="rect">
            <a:avLst/>
          </a:prstGeom>
          <a:noFill/>
          <a:ln/>
        </p:spPr>
        <p:txBody>
          <a:bodyPr wrap="square" rtlCol="0" anchor="ctr"/>
          <a:lstStyle/>
          <a:p>
            <a:pPr algn="l" marL="342900" indent="-342900">
              <a:lnSpc>
                <a:spcPct val="140000"/>
              </a:lnSpc>
              <a:buSzPct val="100000"/>
              <a:buChar char="•"/>
            </a:pPr>
            <a:r>
              <a:rPr lang="en-US" sz="1500" b="1" dirty="0">
                <a:solidFill>
                  <a:srgbClr val="38BDF8"/>
                </a:solidFill>
                <a:latin typeface="Inter" pitchFamily="34" charset="0"/>
                <a:ea typeface="Inter" pitchFamily="34" charset="-122"/>
                <a:cs typeface="Inter" pitchFamily="34" charset="-120"/>
              </a:rPr>
              <a:t>Ham: </a:t>
            </a:r>
            <a:endParaRPr lang="en-US" sz="1500" dirty="0"/>
          </a:p>
          <a:p>
            <a:pPr algn="l" indent="0" marL="0">
              <a:lnSpc>
                <a:spcPct val="140000"/>
              </a:lnSpc>
              <a:buNone/>
            </a:pPr>
            <a:r>
              <a:rPr lang="en-US" sz="1500" dirty="0">
                <a:solidFill>
                  <a:srgbClr val="94A3B8"/>
                </a:solidFill>
                <a:latin typeface="Inter" pitchFamily="34" charset="0"/>
                <a:ea typeface="Inter" pitchFamily="34" charset="-122"/>
                <a:cs typeface="Inter" pitchFamily="34" charset="-120"/>
              </a:rPr>
              <a:t>4,827 Messages (86.6%) - Dominates the dataset representation</a:t>
            </a:r>
            <a:endParaRPr lang="en-US" sz="1500" dirty="0"/>
          </a:p>
          <a:p>
            <a:pPr algn="l" marL="342900" indent="-342900">
              <a:lnSpc>
                <a:spcPct val="140000"/>
              </a:lnSpc>
              <a:buSzPct val="100000"/>
              <a:buChar char="•"/>
            </a:pPr>
            <a:r>
              <a:rPr lang="en-US" sz="1500" b="1" dirty="0">
                <a:solidFill>
                  <a:srgbClr val="FF5A1F"/>
                </a:solidFill>
                <a:latin typeface="Inter" pitchFamily="34" charset="0"/>
                <a:ea typeface="Inter" pitchFamily="34" charset="-122"/>
                <a:cs typeface="Inter" pitchFamily="34" charset="-120"/>
              </a:rPr>
              <a:t>Spam: </a:t>
            </a:r>
            <a:endParaRPr lang="en-US" sz="1500" dirty="0"/>
          </a:p>
          <a:p>
            <a:pPr algn="l" indent="0" marL="0">
              <a:lnSpc>
                <a:spcPct val="140000"/>
              </a:lnSpc>
              <a:buNone/>
            </a:pPr>
            <a:r>
              <a:rPr lang="en-US" sz="1500" dirty="0">
                <a:solidFill>
                  <a:srgbClr val="94A3B8"/>
                </a:solidFill>
                <a:latin typeface="Inter" pitchFamily="34" charset="0"/>
                <a:ea typeface="Inter" pitchFamily="34" charset="-122"/>
                <a:cs typeface="Inter" pitchFamily="34" charset="-120"/>
              </a:rPr>
              <a:t>747 Messages (13.4%) - Indicates a severely imbalanced classification problem</a:t>
            </a:r>
            <a:endParaRPr lang="en-US" sz="1500" dirty="0"/>
          </a:p>
        </p:txBody>
      </p:sp>
      <p:pic>
        <p:nvPicPr>
          <p:cNvPr id="9" name="Image 3" descr="preencoded.png">    </p:cNvPr>
          <p:cNvPicPr>
            <a:picLocks noChangeAspect="1"/>
          </p:cNvPicPr>
          <p:nvPr/>
        </p:nvPicPr>
        <p:blipFill>
          <a:blip r:embed="rId5"/>
          <a:stretch>
            <a:fillRect/>
          </a:stretch>
        </p:blipFill>
        <p:spPr>
          <a:xfrm>
            <a:off x="952500" y="5143500"/>
            <a:ext cx="8001000" cy="2762250"/>
          </a:xfrm>
          <a:prstGeom prst="rect">
            <a:avLst/>
          </a:prstGeom>
        </p:spPr>
      </p:pic>
      <p:sp>
        <p:nvSpPr>
          <p:cNvPr id="10" name="Text 4"/>
          <p:cNvSpPr/>
          <p:nvPr/>
        </p:nvSpPr>
        <p:spPr>
          <a:xfrm>
            <a:off x="1333500" y="5429250"/>
            <a:ext cx="7239000" cy="247650"/>
          </a:xfrm>
          <a:prstGeom prst="rect">
            <a:avLst/>
          </a:prstGeom>
          <a:noFill/>
          <a:ln/>
        </p:spPr>
        <p:txBody>
          <a:bodyPr wrap="square" rtlCol="0" anchor="ctr"/>
          <a:lstStyle/>
          <a:p>
            <a:pPr algn="l" indent="0" marL="0">
              <a:lnSpc>
                <a:spcPct val="120000"/>
              </a:lnSpc>
              <a:buNone/>
            </a:pPr>
            <a:r>
              <a:rPr lang="en-US" sz="1650" b="1" dirty="0">
                <a:solidFill>
                  <a:srgbClr val="FFFFFF"/>
                </a:solidFill>
                <a:latin typeface="Montserrat" pitchFamily="34" charset="0"/>
                <a:ea typeface="Montserrat" pitchFamily="34" charset="-122"/>
                <a:cs typeface="Montserrat" pitchFamily="34" charset="-120"/>
              </a:rPr>
              <a:t>MESSAGE LENGTH PROFILE BY CATEGORY</a:t>
            </a:r>
            <a:endParaRPr lang="en-US" sz="1650" dirty="0"/>
          </a:p>
        </p:txBody>
      </p:sp>
      <p:pic>
        <p:nvPicPr>
          <p:cNvPr id="11" name="Image 4" descr="preencoded.png">    </p:cNvPr>
          <p:cNvPicPr>
            <a:picLocks noChangeAspect="1"/>
          </p:cNvPicPr>
          <p:nvPr/>
        </p:nvPicPr>
        <p:blipFill>
          <a:blip r:embed="rId6"/>
          <a:stretch>
            <a:fillRect/>
          </a:stretch>
        </p:blipFill>
        <p:spPr>
          <a:xfrm>
            <a:off x="1333500" y="6000750"/>
            <a:ext cx="2667000" cy="285750"/>
          </a:xfrm>
          <a:prstGeom prst="rect">
            <a:avLst/>
          </a:prstGeom>
        </p:spPr>
      </p:pic>
      <p:pic>
        <p:nvPicPr>
          <p:cNvPr id="12" name="Image 5" descr="preencoded.png">    </p:cNvPr>
          <p:cNvPicPr>
            <a:picLocks noChangeAspect="1"/>
          </p:cNvPicPr>
          <p:nvPr/>
        </p:nvPicPr>
        <p:blipFill>
          <a:blip r:embed="rId7"/>
          <a:stretch>
            <a:fillRect/>
          </a:stretch>
        </p:blipFill>
        <p:spPr>
          <a:xfrm>
            <a:off x="1333500" y="6429375"/>
            <a:ext cx="5524500" cy="285750"/>
          </a:xfrm>
          <a:prstGeom prst="rect">
            <a:avLst/>
          </a:prstGeom>
        </p:spPr>
      </p:pic>
      <p:sp>
        <p:nvSpPr>
          <p:cNvPr id="13" name="Text 5"/>
          <p:cNvSpPr/>
          <p:nvPr/>
        </p:nvSpPr>
        <p:spPr>
          <a:xfrm>
            <a:off x="4191000" y="6029325"/>
            <a:ext cx="3810000" cy="180975"/>
          </a:xfrm>
          <a:prstGeom prst="rect">
            <a:avLst/>
          </a:prstGeom>
          <a:noFill/>
          <a:ln/>
        </p:spPr>
        <p:txBody>
          <a:bodyPr wrap="square" rtlCol="0" anchor="ctr"/>
          <a:lstStyle/>
          <a:p>
            <a:pPr algn="l" indent="0" marL="0">
              <a:lnSpc>
                <a:spcPct val="100000"/>
              </a:lnSpc>
              <a:buNone/>
            </a:pPr>
            <a:r>
              <a:rPr lang="en-US" sz="1425" dirty="0">
                <a:solidFill>
                  <a:srgbClr val="94A3B8"/>
                </a:solidFill>
                <a:latin typeface="Inter" pitchFamily="34" charset="0"/>
                <a:ea typeface="Inter" pitchFamily="34" charset="-122"/>
                <a:cs typeface="Inter" pitchFamily="34" charset="-120"/>
              </a:rPr>
              <a:t>Ham: Avg. ~46 characters</a:t>
            </a:r>
            <a:endParaRPr lang="en-US" sz="1425" dirty="0"/>
          </a:p>
        </p:txBody>
      </p:sp>
      <p:sp>
        <p:nvSpPr>
          <p:cNvPr id="14" name="Text 6"/>
          <p:cNvSpPr/>
          <p:nvPr/>
        </p:nvSpPr>
        <p:spPr>
          <a:xfrm>
            <a:off x="7048500" y="6457950"/>
            <a:ext cx="1905000" cy="142875"/>
          </a:xfrm>
          <a:prstGeom prst="rect">
            <a:avLst/>
          </a:prstGeom>
          <a:noFill/>
          <a:ln/>
        </p:spPr>
        <p:txBody>
          <a:bodyPr wrap="square" rtlCol="0" anchor="ctr"/>
          <a:lstStyle/>
          <a:p>
            <a:pPr algn="l" indent="0" marL="0">
              <a:lnSpc>
                <a:spcPct val="100000"/>
              </a:lnSpc>
              <a:buNone/>
            </a:pPr>
            <a:r>
              <a:rPr lang="en-US" sz="1125" dirty="0">
                <a:solidFill>
                  <a:srgbClr val="94A3B8"/>
                </a:solidFill>
                <a:latin typeface="Inter" pitchFamily="34" charset="0"/>
                <a:ea typeface="Inter" pitchFamily="34" charset="-122"/>
                <a:cs typeface="Inter" pitchFamily="34" charset="-120"/>
              </a:rPr>
              <a:t>Spam: Avg. ~138 characters</a:t>
            </a:r>
            <a:endParaRPr lang="en-US" sz="1125" dirty="0"/>
          </a:p>
        </p:txBody>
      </p:sp>
      <p:pic>
        <p:nvPicPr>
          <p:cNvPr id="15" name="Image 6" descr="preencoded.png">    </p:cNvPr>
          <p:cNvPicPr>
            <a:picLocks noChangeAspect="1"/>
          </p:cNvPicPr>
          <p:nvPr/>
        </p:nvPicPr>
        <p:blipFill>
          <a:blip r:embed="rId8"/>
          <a:stretch>
            <a:fillRect/>
          </a:stretch>
        </p:blipFill>
        <p:spPr>
          <a:xfrm>
            <a:off x="9334500" y="2286000"/>
            <a:ext cx="8001000" cy="5619750"/>
          </a:xfrm>
          <a:prstGeom prst="rect">
            <a:avLst/>
          </a:prstGeom>
        </p:spPr>
      </p:pic>
      <p:sp>
        <p:nvSpPr>
          <p:cNvPr id="16" name="Text 7"/>
          <p:cNvSpPr/>
          <p:nvPr/>
        </p:nvSpPr>
        <p:spPr>
          <a:xfrm>
            <a:off x="9715500" y="2762250"/>
            <a:ext cx="7239000" cy="4552950"/>
          </a:xfrm>
          <a:prstGeom prst="rect">
            <a:avLst/>
          </a:prstGeom>
          <a:noFill/>
          <a:ln/>
        </p:spPr>
        <p:txBody>
          <a:bodyPr wrap="square" rtlCol="0" anchor="ctr"/>
          <a:lstStyle/>
          <a:p>
            <a:pPr algn="l" indent="0" marL="0">
              <a:lnSpc>
                <a:spcPct val="160000"/>
              </a:lnSpc>
              <a:buNone/>
            </a:pPr>
            <a:r>
              <a:rPr lang="en-US" sz="1725" b="1" dirty="0">
                <a:solidFill>
                  <a:srgbClr val="FFFFFF"/>
                </a:solidFill>
                <a:latin typeface="Inter" pitchFamily="34" charset="0"/>
                <a:ea typeface="Inter" pitchFamily="34" charset="-122"/>
                <a:cs typeface="Inter" pitchFamily="34" charset="-120"/>
              </a:rPr>
              <a:t>Critical Analytical Discoveries</a:t>
            </a:r>
            <a:endParaRPr lang="en-US" sz="1725" dirty="0"/>
          </a:p>
          <a:p>
            <a:pPr algn="l" indent="0" marL="0">
              <a:lnSpc>
                <a:spcPct val="160000"/>
              </a:lnSpc>
              <a:buNone/>
            </a:pPr>
            <a:r>
              <a:rPr lang="en-US" sz="1725" b="1" dirty="0">
                <a:solidFill>
                  <a:srgbClr val="FF5A1F"/>
                </a:solidFill>
                <a:latin typeface="Inter" pitchFamily="34" charset="0"/>
                <a:ea typeface="Inter" pitchFamily="34" charset="-122"/>
                <a:cs typeface="Inter" pitchFamily="34" charset="-120"/>
              </a:rPr>
              <a:t>1. Dramatic Length Discrepancy</a:t>
            </a:r>
            <a:endParaRPr lang="en-US" sz="1725" dirty="0"/>
          </a:p>
          <a:p>
            <a:pPr algn="l" indent="0" marL="0">
              <a:lnSpc>
                <a:spcPct val="160000"/>
              </a:lnSpc>
              <a:buNone/>
            </a:pPr>
            <a:r>
              <a:rPr lang="en-US" sz="1725" dirty="0">
                <a:solidFill>
                  <a:srgbClr val="94A3B8"/>
                </a:solidFill>
                <a:latin typeface="Inter" pitchFamily="34" charset="0"/>
                <a:ea typeface="Inter" pitchFamily="34" charset="-122"/>
                <a:cs typeface="Inter" pitchFamily="34" charset="-120"/>
              </a:rPr>
              <a:t>Spam messages are overwhelmingly longer. This occurs because bad actors must include persuasive details, call-to-actions, and official-sounding conditions to hook recipients.</a:t>
            </a:r>
            <a:endParaRPr lang="en-US" sz="1725" dirty="0"/>
          </a:p>
          <a:p>
            <a:pPr algn="l" indent="0" marL="0">
              <a:lnSpc>
                <a:spcPct val="160000"/>
              </a:lnSpc>
              <a:buNone/>
            </a:pPr>
            <a:r>
              <a:rPr lang="en-US" sz="1725" b="1" dirty="0">
                <a:solidFill>
                  <a:srgbClr val="38BDF8"/>
                </a:solidFill>
                <a:latin typeface="Inter" pitchFamily="34" charset="0"/>
                <a:ea typeface="Inter" pitchFamily="34" charset="-122"/>
                <a:cs typeface="Inter" pitchFamily="34" charset="-120"/>
              </a:rPr>
              <a:t>2. Distinct Word Choice Distributions</a:t>
            </a:r>
            <a:endParaRPr lang="en-US" sz="1725" dirty="0"/>
          </a:p>
          <a:p>
            <a:pPr algn="l" indent="0" marL="0">
              <a:lnSpc>
                <a:spcPct val="160000"/>
              </a:lnSpc>
              <a:buNone/>
            </a:pPr>
            <a:r>
              <a:rPr lang="en-US" sz="1725" dirty="0">
                <a:solidFill>
                  <a:srgbClr val="94A3B8"/>
                </a:solidFill>
                <a:latin typeface="Inter" pitchFamily="34" charset="0"/>
                <a:ea typeface="Inter" pitchFamily="34" charset="-122"/>
                <a:cs typeface="Inter" pitchFamily="34" charset="-120"/>
              </a:rPr>
              <a:t>Ham messages rely on conversational structures, casual language, and high sentence variety. Spam utilizes transactional terms (e.g. 'FREE', 'PRIZE', 'URGENT', 'CLAIM', 'WIN').</a:t>
            </a:r>
            <a:endParaRPr lang="en-US" sz="1725" dirty="0"/>
          </a:p>
          <a:p>
            <a:pPr algn="l" indent="0" marL="0">
              <a:lnSpc>
                <a:spcPct val="160000"/>
              </a:lnSpc>
              <a:buNone/>
            </a:pPr>
            <a:r>
              <a:rPr lang="en-US" sz="1725" b="1" dirty="0">
                <a:solidFill>
                  <a:srgbClr val="10B981"/>
                </a:solidFill>
                <a:latin typeface="Inter" pitchFamily="34" charset="0"/>
                <a:ea typeface="Inter" pitchFamily="34" charset="-122"/>
                <a:cs typeface="Inter" pitchFamily="34" charset="-120"/>
              </a:rPr>
              <a:t>3. Feature Potential</a:t>
            </a:r>
            <a:endParaRPr lang="en-US" sz="1725" dirty="0"/>
          </a:p>
          <a:p>
            <a:pPr algn="l" indent="0" marL="0">
              <a:lnSpc>
                <a:spcPct val="160000"/>
              </a:lnSpc>
              <a:buNone/>
            </a:pPr>
            <a:r>
              <a:rPr lang="en-US" sz="1725" dirty="0">
                <a:solidFill>
                  <a:srgbClr val="94A3B8"/>
                </a:solidFill>
                <a:latin typeface="Inter" pitchFamily="34" charset="0"/>
                <a:ea typeface="Inter" pitchFamily="34" charset="-122"/>
                <a:cs typeface="Inter" pitchFamily="34" charset="-120"/>
              </a:rPr>
              <a:t>Message length and special character frequencies constitute strong secondary numerical features that can significantly boost classifier performance.</a:t>
            </a:r>
            <a:endParaRPr lang="en-US" sz="1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05  /  DATA PREPROCESSING</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Text Cleaning &amp; NLP Vectorization Pipeline</a:t>
            </a:r>
            <a:endParaRPr lang="en-US" sz="3300" dirty="0"/>
          </a:p>
        </p:txBody>
      </p:sp>
      <p:pic>
        <p:nvPicPr>
          <p:cNvPr id="4" name="Image 0" descr="preencoded.png">    </p:cNvPr>
          <p:cNvPicPr>
            <a:picLocks noChangeAspect="1"/>
          </p:cNvPicPr>
          <p:nvPr/>
        </p:nvPicPr>
        <p:blipFill>
          <a:blip r:embed="rId2"/>
          <a:stretch>
            <a:fillRect/>
          </a:stretch>
        </p:blipFill>
        <p:spPr>
          <a:xfrm>
            <a:off x="952500" y="2190750"/>
            <a:ext cx="3810000" cy="2190750"/>
          </a:xfrm>
          <a:prstGeom prst="rect">
            <a:avLst/>
          </a:prstGeom>
        </p:spPr>
      </p:pic>
      <p:sp>
        <p:nvSpPr>
          <p:cNvPr id="5" name="Text 2"/>
          <p:cNvSpPr/>
          <p:nvPr/>
        </p:nvSpPr>
        <p:spPr>
          <a:xfrm>
            <a:off x="1238250" y="2476500"/>
            <a:ext cx="3238500" cy="1600200"/>
          </a:xfrm>
          <a:prstGeom prst="rect">
            <a:avLst/>
          </a:prstGeom>
          <a:noFill/>
          <a:ln/>
        </p:spPr>
        <p:txBody>
          <a:bodyPr wrap="square" rtlCol="0" anchor="ctr"/>
          <a:lstStyle/>
          <a:p>
            <a:pPr algn="l" indent="0" marL="0">
              <a:lnSpc>
                <a:spcPct val="140000"/>
              </a:lnSpc>
              <a:buNone/>
            </a:pPr>
            <a:r>
              <a:rPr lang="en-US" sz="1500" b="1" dirty="0">
                <a:solidFill>
                  <a:srgbClr val="FF5A1F"/>
                </a:solidFill>
                <a:latin typeface="Inter" pitchFamily="34" charset="0"/>
                <a:ea typeface="Inter" pitchFamily="34" charset="-122"/>
                <a:cs typeface="Inter" pitchFamily="34" charset="-120"/>
              </a:rPr>
              <a:t>01  /  Lowercasing</a:t>
            </a:r>
            <a:endParaRPr lang="en-US" sz="1500" dirty="0"/>
          </a:p>
          <a:p>
            <a:pPr algn="l" indent="0" marL="0">
              <a:lnSpc>
                <a:spcPct val="140000"/>
              </a:lnSpc>
              <a:buNone/>
            </a:pPr>
            <a:r>
              <a:rPr lang="en-US" sz="1500" dirty="0">
                <a:solidFill>
                  <a:srgbClr val="94A3B8"/>
                </a:solidFill>
                <a:latin typeface="Inter" pitchFamily="34" charset="0"/>
                <a:ea typeface="Inter" pitchFamily="34" charset="-122"/>
                <a:cs typeface="Inter" pitchFamily="34" charset="-120"/>
              </a:rPr>
              <a:t>Converts all message strings to lowercase (e.g. 'FREE' to 'free'). This ensures the model treats same-word variants as equivalent, preventing feature duplication.</a:t>
            </a:r>
            <a:endParaRPr lang="en-US" sz="1500" dirty="0"/>
          </a:p>
        </p:txBody>
      </p:sp>
      <p:pic>
        <p:nvPicPr>
          <p:cNvPr id="6" name="Image 1" descr="preencoded.png">    </p:cNvPr>
          <p:cNvPicPr>
            <a:picLocks noChangeAspect="1"/>
          </p:cNvPicPr>
          <p:nvPr/>
        </p:nvPicPr>
        <p:blipFill>
          <a:blip r:embed="rId3"/>
          <a:stretch>
            <a:fillRect/>
          </a:stretch>
        </p:blipFill>
        <p:spPr>
          <a:xfrm>
            <a:off x="5143500" y="2190750"/>
            <a:ext cx="3810000" cy="2190750"/>
          </a:xfrm>
          <a:prstGeom prst="rect">
            <a:avLst/>
          </a:prstGeom>
        </p:spPr>
      </p:pic>
      <p:sp>
        <p:nvSpPr>
          <p:cNvPr id="7" name="Text 3"/>
          <p:cNvSpPr/>
          <p:nvPr/>
        </p:nvSpPr>
        <p:spPr>
          <a:xfrm>
            <a:off x="5429250" y="2476500"/>
            <a:ext cx="3238500" cy="1600200"/>
          </a:xfrm>
          <a:prstGeom prst="rect">
            <a:avLst/>
          </a:prstGeom>
          <a:noFill/>
          <a:ln/>
        </p:spPr>
        <p:txBody>
          <a:bodyPr wrap="square" rtlCol="0" anchor="ctr"/>
          <a:lstStyle/>
          <a:p>
            <a:pPr algn="l" indent="0" marL="0">
              <a:lnSpc>
                <a:spcPct val="140000"/>
              </a:lnSpc>
              <a:buNone/>
            </a:pPr>
            <a:r>
              <a:rPr lang="en-US" sz="1500" b="1" dirty="0">
                <a:solidFill>
                  <a:srgbClr val="38BDF8"/>
                </a:solidFill>
                <a:latin typeface="Inter" pitchFamily="34" charset="0"/>
                <a:ea typeface="Inter" pitchFamily="34" charset="-122"/>
                <a:cs typeface="Inter" pitchFamily="34" charset="-120"/>
              </a:rPr>
              <a:t>02  /  Tokenization</a:t>
            </a:r>
            <a:endParaRPr lang="en-US" sz="1500" dirty="0"/>
          </a:p>
          <a:p>
            <a:pPr algn="l" indent="0" marL="0">
              <a:lnSpc>
                <a:spcPct val="140000"/>
              </a:lnSpc>
              <a:buNone/>
            </a:pPr>
            <a:r>
              <a:rPr lang="en-US" sz="1500" dirty="0">
                <a:solidFill>
                  <a:srgbClr val="94A3B8"/>
                </a:solidFill>
                <a:latin typeface="Inter" pitchFamily="34" charset="0"/>
                <a:ea typeface="Inter" pitchFamily="34" charset="-122"/>
                <a:cs typeface="Inter" pitchFamily="34" charset="-120"/>
              </a:rPr>
              <a:t>Splits block text sentences into individual components or 'tokens' (individual words and punctuation elements) to enable sequential lexical analysis.</a:t>
            </a:r>
            <a:endParaRPr lang="en-US" sz="1500" dirty="0"/>
          </a:p>
        </p:txBody>
      </p:sp>
      <p:pic>
        <p:nvPicPr>
          <p:cNvPr id="8" name="Image 2" descr="preencoded.png">    </p:cNvPr>
          <p:cNvPicPr>
            <a:picLocks noChangeAspect="1"/>
          </p:cNvPicPr>
          <p:nvPr/>
        </p:nvPicPr>
        <p:blipFill>
          <a:blip r:embed="rId4"/>
          <a:stretch>
            <a:fillRect/>
          </a:stretch>
        </p:blipFill>
        <p:spPr>
          <a:xfrm>
            <a:off x="9334500" y="2190750"/>
            <a:ext cx="3810000" cy="2190750"/>
          </a:xfrm>
          <a:prstGeom prst="rect">
            <a:avLst/>
          </a:prstGeom>
        </p:spPr>
      </p:pic>
      <p:sp>
        <p:nvSpPr>
          <p:cNvPr id="9" name="Text 4"/>
          <p:cNvSpPr/>
          <p:nvPr/>
        </p:nvSpPr>
        <p:spPr>
          <a:xfrm>
            <a:off x="9620250" y="2476500"/>
            <a:ext cx="3238500" cy="1600200"/>
          </a:xfrm>
          <a:prstGeom prst="rect">
            <a:avLst/>
          </a:prstGeom>
          <a:noFill/>
          <a:ln/>
        </p:spPr>
        <p:txBody>
          <a:bodyPr wrap="square" rtlCol="0" anchor="ctr"/>
          <a:lstStyle/>
          <a:p>
            <a:pPr algn="l" indent="0" marL="0">
              <a:lnSpc>
                <a:spcPct val="140000"/>
              </a:lnSpc>
              <a:buNone/>
            </a:pPr>
            <a:r>
              <a:rPr lang="en-US" sz="1500" b="1" dirty="0">
                <a:solidFill>
                  <a:srgbClr val="10B981"/>
                </a:solidFill>
                <a:latin typeface="Inter" pitchFamily="34" charset="0"/>
                <a:ea typeface="Inter" pitchFamily="34" charset="-122"/>
                <a:cs typeface="Inter" pitchFamily="34" charset="-120"/>
              </a:rPr>
              <a:t>03  /  Stopword Removal</a:t>
            </a:r>
            <a:endParaRPr lang="en-US" sz="1500" dirty="0"/>
          </a:p>
          <a:p>
            <a:pPr algn="l" indent="0" marL="0">
              <a:lnSpc>
                <a:spcPct val="140000"/>
              </a:lnSpc>
              <a:buNone/>
            </a:pPr>
            <a:r>
              <a:rPr lang="en-US" sz="1500" dirty="0">
                <a:solidFill>
                  <a:srgbClr val="94A3B8"/>
                </a:solidFill>
                <a:latin typeface="Inter" pitchFamily="34" charset="0"/>
                <a:ea typeface="Inter" pitchFamily="34" charset="-122"/>
                <a:cs typeface="Inter" pitchFamily="34" charset="-120"/>
              </a:rPr>
              <a:t>Filters out high-frequency syntactic words that lack distinct semantic load (e.g. 'is', 'the', 'and', 'to') to focus purely on high-entropy keywords.</a:t>
            </a:r>
            <a:endParaRPr lang="en-US" sz="1500" dirty="0"/>
          </a:p>
        </p:txBody>
      </p:sp>
      <p:pic>
        <p:nvPicPr>
          <p:cNvPr id="10" name="Image 3" descr="preencoded.png">    </p:cNvPr>
          <p:cNvPicPr>
            <a:picLocks noChangeAspect="1"/>
          </p:cNvPicPr>
          <p:nvPr/>
        </p:nvPicPr>
        <p:blipFill>
          <a:blip r:embed="rId5"/>
          <a:stretch>
            <a:fillRect/>
          </a:stretch>
        </p:blipFill>
        <p:spPr>
          <a:xfrm>
            <a:off x="13525500" y="2190750"/>
            <a:ext cx="3810000" cy="2190750"/>
          </a:xfrm>
          <a:prstGeom prst="rect">
            <a:avLst/>
          </a:prstGeom>
        </p:spPr>
      </p:pic>
      <p:sp>
        <p:nvSpPr>
          <p:cNvPr id="11" name="Text 5"/>
          <p:cNvSpPr/>
          <p:nvPr/>
        </p:nvSpPr>
        <p:spPr>
          <a:xfrm>
            <a:off x="13811250" y="2476500"/>
            <a:ext cx="3238500" cy="1600200"/>
          </a:xfrm>
          <a:prstGeom prst="rect">
            <a:avLst/>
          </a:prstGeom>
          <a:noFill/>
          <a:ln/>
        </p:spPr>
        <p:txBody>
          <a:bodyPr wrap="square" rtlCol="0" anchor="ctr"/>
          <a:lstStyle/>
          <a:p>
            <a:pPr algn="l" indent="0" marL="0">
              <a:lnSpc>
                <a:spcPct val="140000"/>
              </a:lnSpc>
              <a:buNone/>
            </a:pPr>
            <a:r>
              <a:rPr lang="en-US" sz="1500" b="1" dirty="0">
                <a:solidFill>
                  <a:srgbClr val="A855F7"/>
                </a:solidFill>
                <a:latin typeface="Inter" pitchFamily="34" charset="0"/>
                <a:ea typeface="Inter" pitchFamily="34" charset="-122"/>
                <a:cs typeface="Inter" pitchFamily="34" charset="-120"/>
              </a:rPr>
              <a:t>04  /  TF-IDF Feature</a:t>
            </a:r>
            <a:endParaRPr lang="en-US" sz="1500" dirty="0"/>
          </a:p>
          <a:p>
            <a:pPr algn="l" indent="0" marL="0">
              <a:lnSpc>
                <a:spcPct val="140000"/>
              </a:lnSpc>
              <a:buNone/>
            </a:pPr>
            <a:r>
              <a:rPr lang="en-US" sz="1500" dirty="0">
                <a:solidFill>
                  <a:srgbClr val="94A3B8"/>
                </a:solidFill>
                <a:latin typeface="Inter" pitchFamily="34" charset="0"/>
                <a:ea typeface="Inter" pitchFamily="34" charset="-122"/>
                <a:cs typeface="Inter" pitchFamily="34" charset="-120"/>
              </a:rPr>
              <a:t>Term Frequency-Inverse Document Frequency. Transforms words into rich numerical vector weights reflecting relevance within the dataset.</a:t>
            </a:r>
            <a:endParaRPr lang="en-US" sz="1500" dirty="0"/>
          </a:p>
        </p:txBody>
      </p:sp>
      <p:sp>
        <p:nvSpPr>
          <p:cNvPr id="12" name="Text 6"/>
          <p:cNvSpPr/>
          <p:nvPr/>
        </p:nvSpPr>
        <p:spPr>
          <a:xfrm>
            <a:off x="952500" y="4857750"/>
            <a:ext cx="4762500" cy="171450"/>
          </a:xfrm>
          <a:prstGeom prst="rect">
            <a:avLst/>
          </a:prstGeom>
          <a:noFill/>
          <a:ln/>
        </p:spPr>
        <p:txBody>
          <a:bodyPr wrap="square" rtlCol="0" anchor="ctr"/>
          <a:lstStyle/>
          <a:p>
            <a:pPr algn="l" indent="0" marL="0">
              <a:lnSpc>
                <a:spcPct val="100000"/>
              </a:lnSpc>
              <a:buNone/>
            </a:pPr>
            <a:r>
              <a:rPr lang="en-US" sz="1350" b="1" dirty="0">
                <a:solidFill>
                  <a:srgbClr val="FFFFFF"/>
                </a:solidFill>
                <a:latin typeface="Montserrat" pitchFamily="34" charset="0"/>
                <a:ea typeface="Montserrat" pitchFamily="34" charset="-122"/>
                <a:cs typeface="Montserrat" pitchFamily="34" charset="-120"/>
              </a:rPr>
              <a:t>DATA PIPELINE WORKFLOW</a:t>
            </a:r>
            <a:endParaRPr lang="en-US" sz="1350" dirty="0"/>
          </a:p>
        </p:txBody>
      </p:sp>
      <p:pic>
        <p:nvPicPr>
          <p:cNvPr id="13" name="Image 4" descr="preencoded.png">    </p:cNvPr>
          <p:cNvPicPr>
            <a:picLocks noChangeAspect="1"/>
          </p:cNvPicPr>
          <p:nvPr/>
        </p:nvPicPr>
        <p:blipFill>
          <a:blip r:embed="rId6"/>
          <a:stretch>
            <a:fillRect/>
          </a:stretch>
        </p:blipFill>
        <p:spPr>
          <a:xfrm>
            <a:off x="952500" y="5429250"/>
            <a:ext cx="2857500" cy="1714500"/>
          </a:xfrm>
          <a:prstGeom prst="rect">
            <a:avLst/>
          </a:prstGeom>
        </p:spPr>
      </p:pic>
      <p:sp>
        <p:nvSpPr>
          <p:cNvPr id="14" name="Text 7"/>
          <p:cNvSpPr/>
          <p:nvPr/>
        </p:nvSpPr>
        <p:spPr>
          <a:xfrm>
            <a:off x="1238250" y="5810250"/>
            <a:ext cx="2286000" cy="838200"/>
          </a:xfrm>
          <a:prstGeom prst="rect">
            <a:avLst/>
          </a:prstGeom>
          <a:noFill/>
          <a:ln/>
        </p:spPr>
        <p:txBody>
          <a:bodyPr wrap="square" rtlCol="0" anchor="ctr"/>
          <a:lstStyle/>
          <a:p>
            <a:pPr algn="ctr" indent="0" marL="0">
              <a:lnSpc>
                <a:spcPct val="140000"/>
              </a:lnSpc>
              <a:buNone/>
            </a:pPr>
            <a:r>
              <a:rPr lang="en-US" sz="1575" b="1" dirty="0">
                <a:solidFill>
                  <a:srgbClr val="94A3B8"/>
                </a:solidFill>
                <a:latin typeface="Inter" pitchFamily="34" charset="0"/>
                <a:ea typeface="Inter" pitchFamily="34" charset="-122"/>
                <a:cs typeface="Inter" pitchFamily="34" charset="-120"/>
              </a:rPr>
              <a:t>RAW TEXT INPUT</a:t>
            </a:r>
            <a:endParaRPr lang="en-US" sz="1575" dirty="0"/>
          </a:p>
          <a:p>
            <a:pPr algn="ctr" indent="0" marL="0">
              <a:lnSpc>
                <a:spcPct val="140000"/>
              </a:lnSpc>
              <a:buNone/>
            </a:pPr>
            <a:r>
              <a:rPr lang="en-US" sz="1575" dirty="0">
                <a:solidFill>
                  <a:srgbClr val="FFFFFF"/>
                </a:solidFill>
                <a:latin typeface="Inter" pitchFamily="34" charset="0"/>
                <a:ea typeface="Inter" pitchFamily="34" charset="-122"/>
                <a:cs typeface="Inter" pitchFamily="34" charset="-120"/>
              </a:rPr>
              <a:t>Unstructured SMS and Email messages</a:t>
            </a:r>
            <a:endParaRPr lang="en-US" sz="1575" dirty="0"/>
          </a:p>
        </p:txBody>
      </p:sp>
      <p:pic>
        <p:nvPicPr>
          <p:cNvPr id="15" name="Image 5" descr="preencoded.png">    </p:cNvPr>
          <p:cNvPicPr>
            <a:picLocks noChangeAspect="1"/>
          </p:cNvPicPr>
          <p:nvPr/>
        </p:nvPicPr>
        <p:blipFill>
          <a:blip r:embed="rId7"/>
          <a:stretch>
            <a:fillRect/>
          </a:stretch>
        </p:blipFill>
        <p:spPr>
          <a:xfrm>
            <a:off x="5334000" y="5429250"/>
            <a:ext cx="2857500" cy="1714500"/>
          </a:xfrm>
          <a:prstGeom prst="rect">
            <a:avLst/>
          </a:prstGeom>
        </p:spPr>
      </p:pic>
      <p:sp>
        <p:nvSpPr>
          <p:cNvPr id="16" name="Text 8"/>
          <p:cNvSpPr/>
          <p:nvPr/>
        </p:nvSpPr>
        <p:spPr>
          <a:xfrm>
            <a:off x="5619750" y="5810250"/>
            <a:ext cx="2286000" cy="1123950"/>
          </a:xfrm>
          <a:prstGeom prst="rect">
            <a:avLst/>
          </a:prstGeom>
          <a:noFill/>
          <a:ln/>
        </p:spPr>
        <p:txBody>
          <a:bodyPr wrap="square" rtlCol="0" anchor="ctr"/>
          <a:lstStyle/>
          <a:p>
            <a:pPr algn="ctr" indent="0" marL="0">
              <a:lnSpc>
                <a:spcPct val="140000"/>
              </a:lnSpc>
              <a:buNone/>
            </a:pPr>
            <a:r>
              <a:rPr lang="en-US" sz="1575" b="1" dirty="0">
                <a:solidFill>
                  <a:srgbClr val="94A3B8"/>
                </a:solidFill>
                <a:latin typeface="Inter" pitchFamily="34" charset="0"/>
                <a:ea typeface="Inter" pitchFamily="34" charset="-122"/>
                <a:cs typeface="Inter" pitchFamily="34" charset="-120"/>
              </a:rPr>
              <a:t>TEXT PREPROCESSING</a:t>
            </a:r>
            <a:endParaRPr lang="en-US" sz="1575" dirty="0"/>
          </a:p>
          <a:p>
            <a:pPr algn="ctr" indent="0" marL="0">
              <a:lnSpc>
                <a:spcPct val="140000"/>
              </a:lnSpc>
              <a:buNone/>
            </a:pPr>
            <a:r>
              <a:rPr lang="en-US" sz="1575" dirty="0">
                <a:solidFill>
                  <a:srgbClr val="FFFFFF"/>
                </a:solidFill>
                <a:latin typeface="Inter" pitchFamily="34" charset="0"/>
                <a:ea typeface="Inter" pitchFamily="34" charset="-122"/>
                <a:cs typeface="Inter" pitchFamily="34" charset="-120"/>
              </a:rPr>
              <a:t>Lowercasing, Tokenization, Stopwords</a:t>
            </a:r>
            <a:endParaRPr lang="en-US" sz="1575" dirty="0"/>
          </a:p>
        </p:txBody>
      </p:sp>
      <p:pic>
        <p:nvPicPr>
          <p:cNvPr id="17" name="Image 6" descr="preencoded.png">    </p:cNvPr>
          <p:cNvPicPr>
            <a:picLocks noChangeAspect="1"/>
          </p:cNvPicPr>
          <p:nvPr/>
        </p:nvPicPr>
        <p:blipFill>
          <a:blip r:embed="rId8"/>
          <a:stretch>
            <a:fillRect/>
          </a:stretch>
        </p:blipFill>
        <p:spPr>
          <a:xfrm>
            <a:off x="9715500" y="5429250"/>
            <a:ext cx="2857500" cy="1714500"/>
          </a:xfrm>
          <a:prstGeom prst="rect">
            <a:avLst/>
          </a:prstGeom>
        </p:spPr>
      </p:pic>
      <p:sp>
        <p:nvSpPr>
          <p:cNvPr id="18" name="Text 9"/>
          <p:cNvSpPr/>
          <p:nvPr/>
        </p:nvSpPr>
        <p:spPr>
          <a:xfrm>
            <a:off x="10001250" y="5810250"/>
            <a:ext cx="2286000" cy="1123950"/>
          </a:xfrm>
          <a:prstGeom prst="rect">
            <a:avLst/>
          </a:prstGeom>
          <a:noFill/>
          <a:ln/>
        </p:spPr>
        <p:txBody>
          <a:bodyPr wrap="square" rtlCol="0" anchor="ctr"/>
          <a:lstStyle/>
          <a:p>
            <a:pPr algn="ctr" indent="0" marL="0">
              <a:lnSpc>
                <a:spcPct val="140000"/>
              </a:lnSpc>
              <a:buNone/>
            </a:pPr>
            <a:r>
              <a:rPr lang="en-US" sz="1575" b="1" dirty="0">
                <a:solidFill>
                  <a:srgbClr val="94A3B8"/>
                </a:solidFill>
                <a:latin typeface="Inter" pitchFamily="34" charset="0"/>
                <a:ea typeface="Inter" pitchFamily="34" charset="-122"/>
                <a:cs typeface="Inter" pitchFamily="34" charset="-120"/>
              </a:rPr>
              <a:t>TF-IDF VECTORIZATION</a:t>
            </a:r>
            <a:endParaRPr lang="en-US" sz="1575" dirty="0"/>
          </a:p>
          <a:p>
            <a:pPr algn="ctr" indent="0" marL="0">
              <a:lnSpc>
                <a:spcPct val="140000"/>
              </a:lnSpc>
              <a:buNone/>
            </a:pPr>
            <a:r>
              <a:rPr lang="en-US" sz="1575" dirty="0">
                <a:solidFill>
                  <a:srgbClr val="FFFFFF"/>
                </a:solidFill>
                <a:latin typeface="Inter" pitchFamily="34" charset="0"/>
                <a:ea typeface="Inter" pitchFamily="34" charset="-122"/>
                <a:cs typeface="Inter" pitchFamily="34" charset="-120"/>
              </a:rPr>
              <a:t>Numerical feature matrix extraction</a:t>
            </a:r>
            <a:endParaRPr lang="en-US" sz="1575" dirty="0"/>
          </a:p>
        </p:txBody>
      </p:sp>
      <p:pic>
        <p:nvPicPr>
          <p:cNvPr id="19" name="Image 7" descr="preencoded.png">    </p:cNvPr>
          <p:cNvPicPr>
            <a:picLocks noChangeAspect="1"/>
          </p:cNvPicPr>
          <p:nvPr/>
        </p:nvPicPr>
        <p:blipFill>
          <a:blip r:embed="rId9"/>
          <a:stretch>
            <a:fillRect/>
          </a:stretch>
        </p:blipFill>
        <p:spPr>
          <a:xfrm>
            <a:off x="14097000" y="5429250"/>
            <a:ext cx="3238500" cy="1714500"/>
          </a:xfrm>
          <a:prstGeom prst="rect">
            <a:avLst/>
          </a:prstGeom>
        </p:spPr>
      </p:pic>
      <p:sp>
        <p:nvSpPr>
          <p:cNvPr id="20" name="Text 10"/>
          <p:cNvSpPr/>
          <p:nvPr/>
        </p:nvSpPr>
        <p:spPr>
          <a:xfrm>
            <a:off x="14382750" y="5810250"/>
            <a:ext cx="2667000" cy="838200"/>
          </a:xfrm>
          <a:prstGeom prst="rect">
            <a:avLst/>
          </a:prstGeom>
          <a:noFill/>
          <a:ln/>
        </p:spPr>
        <p:txBody>
          <a:bodyPr wrap="square" rtlCol="0" anchor="ctr"/>
          <a:lstStyle/>
          <a:p>
            <a:pPr algn="ctr" indent="0" marL="0">
              <a:lnSpc>
                <a:spcPct val="140000"/>
              </a:lnSpc>
              <a:buNone/>
            </a:pPr>
            <a:r>
              <a:rPr lang="en-US" sz="1575" b="1" dirty="0">
                <a:solidFill>
                  <a:srgbClr val="E2E8F0"/>
                </a:solidFill>
                <a:latin typeface="Inter" pitchFamily="34" charset="0"/>
                <a:ea typeface="Inter" pitchFamily="34" charset="-122"/>
                <a:cs typeface="Inter" pitchFamily="34" charset="-120"/>
              </a:rPr>
              <a:t>ML CLASSIFIER</a:t>
            </a:r>
            <a:endParaRPr lang="en-US" sz="1575" dirty="0"/>
          </a:p>
          <a:p>
            <a:pPr algn="ctr" indent="0" marL="0">
              <a:lnSpc>
                <a:spcPct val="140000"/>
              </a:lnSpc>
              <a:buNone/>
            </a:pPr>
            <a:r>
              <a:rPr lang="en-US" sz="1575" b="1" dirty="0">
                <a:solidFill>
                  <a:srgbClr val="FFFFFF"/>
                </a:solidFill>
                <a:latin typeface="Inter" pitchFamily="34" charset="0"/>
                <a:ea typeface="Inter" pitchFamily="34" charset="-122"/>
                <a:cs typeface="Inter" pitchFamily="34" charset="-120"/>
              </a:rPr>
              <a:t>Multinomial Naive Bayes model</a:t>
            </a:r>
            <a:endParaRPr lang="en-US" sz="15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06  /  MACHINE LEARNING MODEL</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Multinomial Naive Bayes Classifier</a:t>
            </a:r>
            <a:endParaRPr lang="en-US" sz="3300" dirty="0"/>
          </a:p>
        </p:txBody>
      </p:sp>
      <p:pic>
        <p:nvPicPr>
          <p:cNvPr id="4" name="Image 0" descr="preencoded.png">    </p:cNvPr>
          <p:cNvPicPr>
            <a:picLocks noChangeAspect="1"/>
          </p:cNvPicPr>
          <p:nvPr/>
        </p:nvPicPr>
        <p:blipFill>
          <a:blip r:embed="rId2"/>
          <a:stretch>
            <a:fillRect/>
          </a:stretch>
        </p:blipFill>
        <p:spPr>
          <a:xfrm>
            <a:off x="596960" y="2314661"/>
            <a:ext cx="8001000" cy="5619750"/>
          </a:xfrm>
          <a:prstGeom prst="rect">
            <a:avLst/>
          </a:prstGeom>
        </p:spPr>
      </p:pic>
      <p:pic>
        <p:nvPicPr>
          <p:cNvPr id="5" name="Image 1" descr="preencoded.png">    </p:cNvPr>
          <p:cNvPicPr>
            <a:picLocks noChangeAspect="1"/>
          </p:cNvPicPr>
          <p:nvPr/>
        </p:nvPicPr>
        <p:blipFill>
          <a:blip r:embed="rId3"/>
          <a:stretch>
            <a:fillRect/>
          </a:stretch>
        </p:blipFill>
        <p:spPr>
          <a:xfrm>
            <a:off x="9334500" y="2286000"/>
            <a:ext cx="8001000" cy="5619750"/>
          </a:xfrm>
          <a:prstGeom prst="rect">
            <a:avLst/>
          </a:prstGeom>
        </p:spPr>
      </p:pic>
      <p:sp>
        <p:nvSpPr>
          <p:cNvPr id="6" name="Text 2"/>
          <p:cNvSpPr/>
          <p:nvPr/>
        </p:nvSpPr>
        <p:spPr>
          <a:xfrm>
            <a:off x="597313" y="2560472"/>
            <a:ext cx="7761999" cy="5498078"/>
          </a:xfrm>
          <a:prstGeom prst="rect">
            <a:avLst/>
          </a:prstGeom>
          <a:noFill/>
          <a:ln/>
        </p:spPr>
        <p:txBody>
          <a:bodyPr wrap="square" rtlCol="0" anchor="ctr"/>
          <a:lstStyle/>
          <a:p>
            <a:pPr algn="ctr" indent="0" marL="0">
              <a:lnSpc>
                <a:spcPct val="156000"/>
              </a:lnSpc>
              <a:buNone/>
            </a:pPr>
            <a:r>
              <a:rPr lang="en-US" sz="2248" dirty="0">
                <a:solidFill>
                  <a:srgbClr val="FFFFFF"/>
                </a:solidFill>
                <a:latin typeface="Abhaya Libre" pitchFamily="34" charset="0"/>
                <a:ea typeface="Abhaya Libre" pitchFamily="34" charset="-122"/>
                <a:cs typeface="Abhaya Libre" pitchFamily="34" charset="-120"/>
              </a:rPr>
              <a:t>Multinomial Naive Bayes is a supervised machine learning algorithm widely used for text classification tasks such as spam detection. It is based on Bayes' Theorem and predicts the probability of a message belonging to a particular class. In this project, messages are converted into numerical features using TF-IDF vectorization, and the classifier determines whether a message is Spam or Ham. The algorithm is fast, efficient, easy to implement, and delivers high accuracy for text-based classification problems.</a:t>
            </a:r>
            <a:endParaRPr lang="en-US" sz="224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07  /  RESULTS &amp; PERFORMANCE</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Model Evaluation Metrics &amp; Output</a:t>
            </a:r>
            <a:endParaRPr lang="en-US" sz="3300" dirty="0"/>
          </a:p>
        </p:txBody>
      </p:sp>
      <p:pic>
        <p:nvPicPr>
          <p:cNvPr id="4" name="Image 0" descr="preencoded.png">    </p:cNvPr>
          <p:cNvPicPr>
            <a:picLocks noChangeAspect="1"/>
          </p:cNvPicPr>
          <p:nvPr/>
        </p:nvPicPr>
        <p:blipFill>
          <a:blip r:embed="rId2"/>
          <a:stretch>
            <a:fillRect/>
          </a:stretch>
        </p:blipFill>
        <p:spPr>
          <a:xfrm>
            <a:off x="952500" y="2286000"/>
            <a:ext cx="3810000" cy="1238250"/>
          </a:xfrm>
          <a:prstGeom prst="rect">
            <a:avLst/>
          </a:prstGeom>
        </p:spPr>
      </p:pic>
      <p:sp>
        <p:nvSpPr>
          <p:cNvPr id="5" name="Text 2"/>
          <p:cNvSpPr/>
          <p:nvPr/>
        </p:nvSpPr>
        <p:spPr>
          <a:xfrm>
            <a:off x="1238250" y="2524125"/>
            <a:ext cx="3238500" cy="409575"/>
          </a:xfrm>
          <a:prstGeom prst="rect">
            <a:avLst/>
          </a:prstGeom>
          <a:noFill/>
          <a:ln/>
        </p:spPr>
        <p:txBody>
          <a:bodyPr wrap="square" rtlCol="0" anchor="ctr"/>
          <a:lstStyle/>
          <a:p>
            <a:pPr algn="l" indent="0" marL="0">
              <a:lnSpc>
                <a:spcPct val="120000"/>
              </a:lnSpc>
              <a:buNone/>
            </a:pPr>
            <a:r>
              <a:rPr lang="en-US" sz="1350" b="1" dirty="0">
                <a:solidFill>
                  <a:srgbClr val="FF5A1F"/>
                </a:solidFill>
                <a:latin typeface="Inter" pitchFamily="34" charset="0"/>
                <a:ea typeface="Inter" pitchFamily="34" charset="-122"/>
                <a:cs typeface="Inter" pitchFamily="34" charset="-120"/>
              </a:rPr>
              <a:t>98.7%</a:t>
            </a:r>
            <a:endParaRPr lang="en-US" sz="1350" dirty="0"/>
          </a:p>
          <a:p>
            <a:pPr algn="l" indent="0" marL="0">
              <a:lnSpc>
                <a:spcPct val="120000"/>
              </a:lnSpc>
              <a:buNone/>
            </a:pPr>
            <a:r>
              <a:rPr lang="en-US" sz="1350" b="1" dirty="0">
                <a:solidFill>
                  <a:srgbClr val="FFFFFF"/>
                </a:solidFill>
                <a:latin typeface="Inter" pitchFamily="34" charset="0"/>
                <a:ea typeface="Inter" pitchFamily="34" charset="-122"/>
                <a:cs typeface="Inter" pitchFamily="34" charset="-120"/>
              </a:rPr>
              <a:t>ACCURACY SCORE</a:t>
            </a:r>
            <a:endParaRPr lang="en-US" sz="1350" dirty="0"/>
          </a:p>
        </p:txBody>
      </p:sp>
      <p:pic>
        <p:nvPicPr>
          <p:cNvPr id="6" name="Image 1" descr="preencoded.png">    </p:cNvPr>
          <p:cNvPicPr>
            <a:picLocks noChangeAspect="1"/>
          </p:cNvPicPr>
          <p:nvPr/>
        </p:nvPicPr>
        <p:blipFill>
          <a:blip r:embed="rId3"/>
          <a:stretch>
            <a:fillRect/>
          </a:stretch>
        </p:blipFill>
        <p:spPr>
          <a:xfrm>
            <a:off x="5143500" y="2286000"/>
            <a:ext cx="3810000" cy="1238250"/>
          </a:xfrm>
          <a:prstGeom prst="rect">
            <a:avLst/>
          </a:prstGeom>
        </p:spPr>
      </p:pic>
      <p:sp>
        <p:nvSpPr>
          <p:cNvPr id="7" name="Text 3"/>
          <p:cNvSpPr/>
          <p:nvPr/>
        </p:nvSpPr>
        <p:spPr>
          <a:xfrm>
            <a:off x="5429250" y="2524125"/>
            <a:ext cx="3238500" cy="409575"/>
          </a:xfrm>
          <a:prstGeom prst="rect">
            <a:avLst/>
          </a:prstGeom>
          <a:noFill/>
          <a:ln/>
        </p:spPr>
        <p:txBody>
          <a:bodyPr wrap="square" rtlCol="0" anchor="ctr"/>
          <a:lstStyle/>
          <a:p>
            <a:pPr algn="l" indent="0" marL="0">
              <a:lnSpc>
                <a:spcPct val="120000"/>
              </a:lnSpc>
              <a:buNone/>
            </a:pPr>
            <a:r>
              <a:rPr lang="en-US" sz="1350" b="1" dirty="0">
                <a:solidFill>
                  <a:srgbClr val="38BDF8"/>
                </a:solidFill>
                <a:latin typeface="Inter" pitchFamily="34" charset="0"/>
                <a:ea typeface="Inter" pitchFamily="34" charset="-122"/>
                <a:cs typeface="Inter" pitchFamily="34" charset="-120"/>
              </a:rPr>
              <a:t>98.2%</a:t>
            </a:r>
            <a:endParaRPr lang="en-US" sz="1350" dirty="0"/>
          </a:p>
          <a:p>
            <a:pPr algn="l" indent="0" marL="0">
              <a:lnSpc>
                <a:spcPct val="120000"/>
              </a:lnSpc>
              <a:buNone/>
            </a:pPr>
            <a:r>
              <a:rPr lang="en-US" sz="1350" b="1" dirty="0">
                <a:solidFill>
                  <a:srgbClr val="FFFFFF"/>
                </a:solidFill>
                <a:latin typeface="Inter" pitchFamily="34" charset="0"/>
                <a:ea typeface="Inter" pitchFamily="34" charset="-122"/>
                <a:cs typeface="Inter" pitchFamily="34" charset="-120"/>
              </a:rPr>
              <a:t>PRECISION RATE</a:t>
            </a:r>
            <a:endParaRPr lang="en-US" sz="1350" dirty="0"/>
          </a:p>
        </p:txBody>
      </p:sp>
      <p:pic>
        <p:nvPicPr>
          <p:cNvPr id="8" name="Image 2" descr="preencoded.png">    </p:cNvPr>
          <p:cNvPicPr>
            <a:picLocks noChangeAspect="1"/>
          </p:cNvPicPr>
          <p:nvPr/>
        </p:nvPicPr>
        <p:blipFill>
          <a:blip r:embed="rId4"/>
          <a:stretch>
            <a:fillRect/>
          </a:stretch>
        </p:blipFill>
        <p:spPr>
          <a:xfrm>
            <a:off x="952500" y="3810000"/>
            <a:ext cx="3810000" cy="1238250"/>
          </a:xfrm>
          <a:prstGeom prst="rect">
            <a:avLst/>
          </a:prstGeom>
        </p:spPr>
      </p:pic>
      <p:sp>
        <p:nvSpPr>
          <p:cNvPr id="9" name="Text 4"/>
          <p:cNvSpPr/>
          <p:nvPr/>
        </p:nvSpPr>
        <p:spPr>
          <a:xfrm>
            <a:off x="1238250" y="4048125"/>
            <a:ext cx="3238500" cy="409575"/>
          </a:xfrm>
          <a:prstGeom prst="rect">
            <a:avLst/>
          </a:prstGeom>
          <a:noFill/>
          <a:ln/>
        </p:spPr>
        <p:txBody>
          <a:bodyPr wrap="square" rtlCol="0" anchor="ctr"/>
          <a:lstStyle/>
          <a:p>
            <a:pPr algn="l" indent="0" marL="0">
              <a:lnSpc>
                <a:spcPct val="120000"/>
              </a:lnSpc>
              <a:buNone/>
            </a:pPr>
            <a:r>
              <a:rPr lang="en-US" sz="1350" b="1" dirty="0">
                <a:solidFill>
                  <a:srgbClr val="10B981"/>
                </a:solidFill>
                <a:latin typeface="Inter" pitchFamily="34" charset="0"/>
                <a:ea typeface="Inter" pitchFamily="34" charset="-122"/>
                <a:cs typeface="Inter" pitchFamily="34" charset="-120"/>
              </a:rPr>
              <a:t>98.5%</a:t>
            </a:r>
            <a:endParaRPr lang="en-US" sz="1350" dirty="0"/>
          </a:p>
          <a:p>
            <a:pPr algn="l" indent="0" marL="0">
              <a:lnSpc>
                <a:spcPct val="120000"/>
              </a:lnSpc>
              <a:buNone/>
            </a:pPr>
            <a:r>
              <a:rPr lang="en-US" sz="1350" b="1" dirty="0">
                <a:solidFill>
                  <a:srgbClr val="FFFFFF"/>
                </a:solidFill>
                <a:latin typeface="Inter" pitchFamily="34" charset="0"/>
                <a:ea typeface="Inter" pitchFamily="34" charset="-122"/>
                <a:cs typeface="Inter" pitchFamily="34" charset="-120"/>
              </a:rPr>
              <a:t>RECALL / SENSITIVITY</a:t>
            </a:r>
            <a:endParaRPr lang="en-US" sz="1350" dirty="0"/>
          </a:p>
        </p:txBody>
      </p:sp>
      <p:pic>
        <p:nvPicPr>
          <p:cNvPr id="10" name="Image 3" descr="preencoded.png">    </p:cNvPr>
          <p:cNvPicPr>
            <a:picLocks noChangeAspect="1"/>
          </p:cNvPicPr>
          <p:nvPr/>
        </p:nvPicPr>
        <p:blipFill>
          <a:blip r:embed="rId5"/>
          <a:stretch>
            <a:fillRect/>
          </a:stretch>
        </p:blipFill>
        <p:spPr>
          <a:xfrm>
            <a:off x="5143500" y="3810000"/>
            <a:ext cx="3810000" cy="1238250"/>
          </a:xfrm>
          <a:prstGeom prst="rect">
            <a:avLst/>
          </a:prstGeom>
        </p:spPr>
      </p:pic>
      <p:sp>
        <p:nvSpPr>
          <p:cNvPr id="11" name="Text 5"/>
          <p:cNvSpPr/>
          <p:nvPr/>
        </p:nvSpPr>
        <p:spPr>
          <a:xfrm>
            <a:off x="5429250" y="4048125"/>
            <a:ext cx="3238500" cy="409575"/>
          </a:xfrm>
          <a:prstGeom prst="rect">
            <a:avLst/>
          </a:prstGeom>
          <a:noFill/>
          <a:ln/>
        </p:spPr>
        <p:txBody>
          <a:bodyPr wrap="square" rtlCol="0" anchor="ctr"/>
          <a:lstStyle/>
          <a:p>
            <a:pPr algn="l" indent="0" marL="0">
              <a:lnSpc>
                <a:spcPct val="120000"/>
              </a:lnSpc>
              <a:buNone/>
            </a:pPr>
            <a:r>
              <a:rPr lang="en-US" sz="1350" b="1" dirty="0">
                <a:solidFill>
                  <a:srgbClr val="A855F7"/>
                </a:solidFill>
                <a:latin typeface="Inter" pitchFamily="34" charset="0"/>
                <a:ea typeface="Inter" pitchFamily="34" charset="-122"/>
                <a:cs typeface="Inter" pitchFamily="34" charset="-120"/>
              </a:rPr>
              <a:t>98.3%</a:t>
            </a:r>
            <a:endParaRPr lang="en-US" sz="1350" dirty="0"/>
          </a:p>
          <a:p>
            <a:pPr algn="l" indent="0" marL="0">
              <a:lnSpc>
                <a:spcPct val="120000"/>
              </a:lnSpc>
              <a:buNone/>
            </a:pPr>
            <a:r>
              <a:rPr lang="en-US" sz="1350" b="1" dirty="0">
                <a:solidFill>
                  <a:srgbClr val="FFFFFF"/>
                </a:solidFill>
                <a:latin typeface="Inter" pitchFamily="34" charset="0"/>
                <a:ea typeface="Inter" pitchFamily="34" charset="-122"/>
                <a:cs typeface="Inter" pitchFamily="34" charset="-120"/>
              </a:rPr>
              <a:t>F1 HARMONIC SCORE</a:t>
            </a:r>
            <a:endParaRPr lang="en-US" sz="1350" dirty="0"/>
          </a:p>
        </p:txBody>
      </p:sp>
      <p:pic>
        <p:nvPicPr>
          <p:cNvPr id="12" name="Image 4" descr="preencoded.png">    </p:cNvPr>
          <p:cNvPicPr>
            <a:picLocks noChangeAspect="1"/>
          </p:cNvPicPr>
          <p:nvPr/>
        </p:nvPicPr>
        <p:blipFill>
          <a:blip r:embed="rId6"/>
          <a:stretch>
            <a:fillRect/>
          </a:stretch>
        </p:blipFill>
        <p:spPr>
          <a:xfrm>
            <a:off x="952500" y="5334000"/>
            <a:ext cx="8001000" cy="2571750"/>
          </a:xfrm>
          <a:prstGeom prst="rect">
            <a:avLst/>
          </a:prstGeom>
        </p:spPr>
      </p:pic>
      <p:sp>
        <p:nvSpPr>
          <p:cNvPr id="13" name="Text 6"/>
          <p:cNvSpPr/>
          <p:nvPr/>
        </p:nvSpPr>
        <p:spPr>
          <a:xfrm>
            <a:off x="1238250" y="5619750"/>
            <a:ext cx="7429500" cy="2105025"/>
          </a:xfrm>
          <a:prstGeom prst="rect">
            <a:avLst/>
          </a:prstGeom>
          <a:noFill/>
          <a:ln/>
        </p:spPr>
        <p:txBody>
          <a:bodyPr wrap="square" rtlCol="0" anchor="ctr"/>
          <a:lstStyle/>
          <a:p>
            <a:pPr algn="l" indent="0" marL="0">
              <a:lnSpc>
                <a:spcPct val="150000"/>
              </a:lnSpc>
              <a:buNone/>
            </a:pPr>
            <a:r>
              <a:rPr lang="en-US" sz="1575" b="1" dirty="0">
                <a:solidFill>
                  <a:srgbClr val="FFFFFF"/>
                </a:solidFill>
                <a:latin typeface="Inter" pitchFamily="34" charset="0"/>
                <a:ea typeface="Inter" pitchFamily="34" charset="-122"/>
                <a:cs typeface="Inter" pitchFamily="34" charset="-120"/>
              </a:rPr>
              <a:t>Analysis &amp; Performance Verdict</a:t>
            </a:r>
            <a:endParaRPr lang="en-US" sz="1575" dirty="0"/>
          </a:p>
          <a:p>
            <a:pPr algn="l" marL="342900" indent="-342900">
              <a:lnSpc>
                <a:spcPct val="150000"/>
              </a:lnSpc>
              <a:buSzPct val="100000"/>
              <a:buChar char="•"/>
            </a:pPr>
            <a:r>
              <a:rPr lang="en-US" sz="1575" b="1" dirty="0">
                <a:solidFill>
                  <a:srgbClr val="38BDF8"/>
                </a:solidFill>
                <a:latin typeface="Inter" pitchFamily="34" charset="0"/>
                <a:ea typeface="Inter" pitchFamily="34" charset="-122"/>
                <a:cs typeface="Inter" pitchFamily="34" charset="-120"/>
              </a:rPr>
              <a:t>High Precision: </a:t>
            </a:r>
            <a:endParaRPr lang="en-US" sz="1575" dirty="0"/>
          </a:p>
          <a:p>
            <a:pPr algn="l" indent="0" marL="0">
              <a:lnSpc>
                <a:spcPct val="150000"/>
              </a:lnSpc>
              <a:buNone/>
            </a:pPr>
            <a:r>
              <a:rPr lang="en-US" sz="1575" dirty="0">
                <a:solidFill>
                  <a:srgbClr val="94A3B8"/>
                </a:solidFill>
                <a:latin typeface="Inter" pitchFamily="34" charset="0"/>
                <a:ea typeface="Inter" pitchFamily="34" charset="-122"/>
                <a:cs typeface="Inter" pitchFamily="34" charset="-120"/>
              </a:rPr>
              <a:t>The False Positive Rate is remarkably low, which is crucial as misclassifying legitimate business/personal mail (Ham) is severely disruptive.</a:t>
            </a:r>
            <a:endParaRPr lang="en-US" sz="1575" dirty="0"/>
          </a:p>
          <a:p>
            <a:pPr algn="l" marL="342900" indent="-342900">
              <a:lnSpc>
                <a:spcPct val="150000"/>
              </a:lnSpc>
              <a:buSzPct val="100000"/>
              <a:buChar char="•"/>
            </a:pPr>
            <a:r>
              <a:rPr lang="en-US" sz="1575" b="1" dirty="0">
                <a:solidFill>
                  <a:srgbClr val="10B981"/>
                </a:solidFill>
                <a:latin typeface="Inter" pitchFamily="34" charset="0"/>
                <a:ea typeface="Inter" pitchFamily="34" charset="-122"/>
                <a:cs typeface="Inter" pitchFamily="34" charset="-120"/>
              </a:rPr>
              <a:t>Balanced Recall: </a:t>
            </a:r>
            <a:endParaRPr lang="en-US" sz="1575" dirty="0"/>
          </a:p>
          <a:p>
            <a:pPr algn="l" indent="0" marL="0">
              <a:lnSpc>
                <a:spcPct val="150000"/>
              </a:lnSpc>
              <a:buNone/>
            </a:pPr>
            <a:r>
              <a:rPr lang="en-US" sz="1575" dirty="0">
                <a:solidFill>
                  <a:srgbClr val="94A3B8"/>
                </a:solidFill>
                <a:latin typeface="Inter" pitchFamily="34" charset="0"/>
                <a:ea typeface="Inter" pitchFamily="34" charset="-122"/>
                <a:cs typeface="Inter" pitchFamily="34" charset="-120"/>
              </a:rPr>
              <a:t>The system correctly intercepts 98.5% of incoming threats, protecting inbox cleanliness without risking critical communications.</a:t>
            </a:r>
            <a:endParaRPr lang="en-US" sz="1575" dirty="0"/>
          </a:p>
        </p:txBody>
      </p:sp>
      <p:pic>
        <p:nvPicPr>
          <p:cNvPr id="14" name="Image 5" descr="preencoded.png">    </p:cNvPr>
          <p:cNvPicPr>
            <a:picLocks noChangeAspect="1"/>
          </p:cNvPicPr>
          <p:nvPr/>
        </p:nvPicPr>
        <p:blipFill>
          <a:blip r:embed="rId7"/>
          <a:stretch>
            <a:fillRect/>
          </a:stretch>
        </p:blipFill>
        <p:spPr>
          <a:xfrm>
            <a:off x="9334500" y="2286000"/>
            <a:ext cx="8001000" cy="5619750"/>
          </a:xfrm>
          <a:prstGeom prst="rect">
            <a:avLst/>
          </a:prstGeom>
        </p:spPr>
      </p:pic>
      <p:pic>
        <p:nvPicPr>
          <p:cNvPr id="15" name="Image 6" descr="preencoded.png">    </p:cNvPr>
          <p:cNvPicPr>
            <a:picLocks noChangeAspect="1"/>
          </p:cNvPicPr>
          <p:nvPr/>
        </p:nvPicPr>
        <p:blipFill>
          <a:blip r:embed="rId8"/>
          <a:stretch>
            <a:fillRect/>
          </a:stretch>
        </p:blipFill>
        <p:spPr>
          <a:xfrm>
            <a:off x="9715500" y="2667000"/>
            <a:ext cx="7239000" cy="4857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08  /  ADDITIONAL ANALYSIS</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Spam Vocabulary &amp; Word Cloud Insights</a:t>
            </a:r>
            <a:endParaRPr lang="en-US" sz="3300" dirty="0"/>
          </a:p>
        </p:txBody>
      </p:sp>
      <p:pic>
        <p:nvPicPr>
          <p:cNvPr id="4" name="Image 0" descr="preencoded.png">    </p:cNvPr>
          <p:cNvPicPr>
            <a:picLocks noChangeAspect="1"/>
          </p:cNvPicPr>
          <p:nvPr/>
        </p:nvPicPr>
        <p:blipFill>
          <a:blip r:embed="rId2"/>
          <a:stretch>
            <a:fillRect/>
          </a:stretch>
        </p:blipFill>
        <p:spPr>
          <a:xfrm>
            <a:off x="761381" y="2238813"/>
            <a:ext cx="8001000" cy="5619750"/>
          </a:xfrm>
          <a:prstGeom prst="rect">
            <a:avLst/>
          </a:prstGeom>
        </p:spPr>
      </p:pic>
      <p:sp>
        <p:nvSpPr>
          <p:cNvPr id="5" name="Text 2"/>
          <p:cNvSpPr/>
          <p:nvPr/>
        </p:nvSpPr>
        <p:spPr>
          <a:xfrm>
            <a:off x="1333500" y="2667000"/>
            <a:ext cx="7239000" cy="2009775"/>
          </a:xfrm>
          <a:prstGeom prst="rect">
            <a:avLst/>
          </a:prstGeom>
          <a:noFill/>
          <a:ln/>
        </p:spPr>
        <p:txBody>
          <a:bodyPr wrap="square" rtlCol="0" anchor="ctr"/>
          <a:lstStyle/>
          <a:p>
            <a:pPr algn="l" indent="0" marL="0">
              <a:lnSpc>
                <a:spcPct val="160000"/>
              </a:lnSpc>
              <a:buNone/>
            </a:pPr>
            <a:r>
              <a:rPr lang="en-US" sz="1650" b="1" dirty="0">
                <a:solidFill>
                  <a:srgbClr val="FFFFFF"/>
                </a:solidFill>
                <a:latin typeface="Inter" pitchFamily="34" charset="0"/>
                <a:ea typeface="Inter" pitchFamily="34" charset="-122"/>
                <a:cs typeface="Inter" pitchFamily="34" charset="-120"/>
              </a:rPr>
              <a:t>Linguistic Pattern Discoveries</a:t>
            </a:r>
            <a:endParaRPr lang="en-US" sz="1650" dirty="0"/>
          </a:p>
          <a:p>
            <a:pPr algn="l" indent="0" marL="0">
              <a:lnSpc>
                <a:spcPct val="160000"/>
              </a:lnSpc>
              <a:buNone/>
            </a:pPr>
            <a:r>
              <a:rPr lang="en-US" sz="1650" dirty="0">
                <a:solidFill>
                  <a:srgbClr val="94A3B8"/>
                </a:solidFill>
                <a:latin typeface="Inter" pitchFamily="34" charset="0"/>
                <a:ea typeface="Inter" pitchFamily="34" charset="-122"/>
                <a:cs typeface="Inter" pitchFamily="34" charset="-120"/>
              </a:rPr>
              <a:t>The lexical profile of spam messages contains distinct high-probability tokens that are rarely, if ever, present in standard conversational ham messages.</a:t>
            </a:r>
            <a:endParaRPr lang="en-US" sz="1650" dirty="0"/>
          </a:p>
          <a:p>
            <a:pPr algn="l" indent="0" marL="0">
              <a:lnSpc>
                <a:spcPct val="160000"/>
              </a:lnSpc>
              <a:buNone/>
            </a:pPr>
            <a:r>
              <a:rPr lang="en-US" sz="1650" dirty="0">
                <a:solidFill>
                  <a:srgbClr val="FFFFFF"/>
                </a:solidFill>
                <a:latin typeface="Inter" pitchFamily="34" charset="0"/>
                <a:ea typeface="Inter" pitchFamily="34" charset="-122"/>
                <a:cs typeface="Inter" pitchFamily="34" charset="-120"/>
              </a:rPr>
              <a:t>By analyzing token weightings, the model maps incoming emails based on vocabulary distributions.</a:t>
            </a:r>
            <a:endParaRPr lang="en-US" sz="1650" dirty="0"/>
          </a:p>
        </p:txBody>
      </p:sp>
      <p:sp>
        <p:nvSpPr>
          <p:cNvPr id="6" name="Text 3"/>
          <p:cNvSpPr/>
          <p:nvPr/>
        </p:nvSpPr>
        <p:spPr>
          <a:xfrm>
            <a:off x="1333500" y="5048250"/>
            <a:ext cx="7239000" cy="209550"/>
          </a:xfrm>
          <a:prstGeom prst="rect">
            <a:avLst/>
          </a:prstGeom>
          <a:noFill/>
          <a:ln/>
        </p:spPr>
        <p:txBody>
          <a:bodyPr wrap="square" rtlCol="0" anchor="ctr"/>
          <a:lstStyle/>
          <a:p>
            <a:pPr algn="l" indent="0" marL="0">
              <a:lnSpc>
                <a:spcPct val="120000"/>
              </a:lnSpc>
              <a:buNone/>
            </a:pPr>
            <a:r>
              <a:rPr lang="en-US" sz="1350" b="1" dirty="0">
                <a:solidFill>
                  <a:srgbClr val="FF5A1F"/>
                </a:solidFill>
                <a:latin typeface="Montserrat" pitchFamily="34" charset="0"/>
                <a:ea typeface="Montserrat" pitchFamily="34" charset="-122"/>
                <a:cs typeface="Montserrat" pitchFamily="34" charset="-120"/>
              </a:rPr>
              <a:t>TOP SPAM TRIGGERS (HIGH WEIGHT)</a:t>
            </a:r>
            <a:endParaRPr lang="en-US" sz="1350" dirty="0"/>
          </a:p>
        </p:txBody>
      </p:sp>
      <p:pic>
        <p:nvPicPr>
          <p:cNvPr id="7" name="Image 1" descr="preencoded.png">    </p:cNvPr>
          <p:cNvPicPr>
            <a:picLocks noChangeAspect="1"/>
          </p:cNvPicPr>
          <p:nvPr/>
        </p:nvPicPr>
        <p:blipFill>
          <a:blip r:embed="rId3"/>
          <a:stretch>
            <a:fillRect/>
          </a:stretch>
        </p:blipFill>
        <p:spPr>
          <a:xfrm>
            <a:off x="1333500" y="5619750"/>
            <a:ext cx="1524000" cy="571500"/>
          </a:xfrm>
          <a:prstGeom prst="rect">
            <a:avLst/>
          </a:prstGeom>
        </p:spPr>
      </p:pic>
      <p:sp>
        <p:nvSpPr>
          <p:cNvPr id="8" name="Text 4"/>
          <p:cNvSpPr/>
          <p:nvPr/>
        </p:nvSpPr>
        <p:spPr>
          <a:xfrm>
            <a:off x="1333500" y="5791200"/>
            <a:ext cx="1524000" cy="142875"/>
          </a:xfrm>
          <a:prstGeom prst="rect">
            <a:avLst/>
          </a:prstGeom>
          <a:noFill/>
          <a:ln/>
        </p:spPr>
        <p:txBody>
          <a:bodyPr wrap="square" rtlCol="0" anchor="ctr"/>
          <a:lstStyle/>
          <a:p>
            <a:pPr algn="ctr" indent="0" marL="0">
              <a:lnSpc>
                <a:spcPct val="100000"/>
              </a:lnSpc>
              <a:buNone/>
            </a:pPr>
            <a:r>
              <a:rPr lang="en-US" sz="1125" b="1" dirty="0">
                <a:solidFill>
                  <a:srgbClr val="FFFFFF"/>
                </a:solidFill>
                <a:latin typeface="Montserrat" pitchFamily="34" charset="0"/>
                <a:ea typeface="Montserrat" pitchFamily="34" charset="-122"/>
                <a:cs typeface="Montserrat" pitchFamily="34" charset="-120"/>
              </a:rPr>
              <a:t>FREE</a:t>
            </a:r>
            <a:endParaRPr lang="en-US" sz="1125" dirty="0"/>
          </a:p>
        </p:txBody>
      </p:sp>
      <p:pic>
        <p:nvPicPr>
          <p:cNvPr id="9" name="Image 2" descr="preencoded.png">    </p:cNvPr>
          <p:cNvPicPr>
            <a:picLocks noChangeAspect="1"/>
          </p:cNvPicPr>
          <p:nvPr/>
        </p:nvPicPr>
        <p:blipFill>
          <a:blip r:embed="rId4"/>
          <a:stretch>
            <a:fillRect/>
          </a:stretch>
        </p:blipFill>
        <p:spPr>
          <a:xfrm>
            <a:off x="3048000" y="5619750"/>
            <a:ext cx="1524000" cy="571500"/>
          </a:xfrm>
          <a:prstGeom prst="rect">
            <a:avLst/>
          </a:prstGeom>
        </p:spPr>
      </p:pic>
      <p:sp>
        <p:nvSpPr>
          <p:cNvPr id="10" name="Text 5"/>
          <p:cNvSpPr/>
          <p:nvPr/>
        </p:nvSpPr>
        <p:spPr>
          <a:xfrm>
            <a:off x="3048000" y="5791200"/>
            <a:ext cx="1524000" cy="142875"/>
          </a:xfrm>
          <a:prstGeom prst="rect">
            <a:avLst/>
          </a:prstGeom>
          <a:noFill/>
          <a:ln/>
        </p:spPr>
        <p:txBody>
          <a:bodyPr wrap="square" rtlCol="0" anchor="ctr"/>
          <a:lstStyle/>
          <a:p>
            <a:pPr algn="ctr" indent="0" marL="0">
              <a:lnSpc>
                <a:spcPct val="100000"/>
              </a:lnSpc>
              <a:buNone/>
            </a:pPr>
            <a:r>
              <a:rPr lang="en-US" sz="1125" b="1" dirty="0">
                <a:solidFill>
                  <a:srgbClr val="FFFFFF"/>
                </a:solidFill>
                <a:latin typeface="Montserrat" pitchFamily="34" charset="0"/>
                <a:ea typeface="Montserrat" pitchFamily="34" charset="-122"/>
                <a:cs typeface="Montserrat" pitchFamily="34" charset="-120"/>
              </a:rPr>
              <a:t>URGENT</a:t>
            </a:r>
            <a:endParaRPr lang="en-US" sz="1125" dirty="0"/>
          </a:p>
        </p:txBody>
      </p:sp>
      <p:pic>
        <p:nvPicPr>
          <p:cNvPr id="11" name="Image 3" descr="preencoded.png">    </p:cNvPr>
          <p:cNvPicPr>
            <a:picLocks noChangeAspect="1"/>
          </p:cNvPicPr>
          <p:nvPr/>
        </p:nvPicPr>
        <p:blipFill>
          <a:blip r:embed="rId5"/>
          <a:stretch>
            <a:fillRect/>
          </a:stretch>
        </p:blipFill>
        <p:spPr>
          <a:xfrm>
            <a:off x="4762500" y="5619750"/>
            <a:ext cx="1524000" cy="571500"/>
          </a:xfrm>
          <a:prstGeom prst="rect">
            <a:avLst/>
          </a:prstGeom>
        </p:spPr>
      </p:pic>
      <p:sp>
        <p:nvSpPr>
          <p:cNvPr id="12" name="Text 6"/>
          <p:cNvSpPr/>
          <p:nvPr/>
        </p:nvSpPr>
        <p:spPr>
          <a:xfrm>
            <a:off x="4762500" y="5791200"/>
            <a:ext cx="1524000" cy="142875"/>
          </a:xfrm>
          <a:prstGeom prst="rect">
            <a:avLst/>
          </a:prstGeom>
          <a:noFill/>
          <a:ln/>
        </p:spPr>
        <p:txBody>
          <a:bodyPr wrap="square" rtlCol="0" anchor="ctr"/>
          <a:lstStyle/>
          <a:p>
            <a:pPr algn="ctr" indent="0" marL="0">
              <a:lnSpc>
                <a:spcPct val="100000"/>
              </a:lnSpc>
              <a:buNone/>
            </a:pPr>
            <a:r>
              <a:rPr lang="en-US" sz="1125" b="1" dirty="0">
                <a:solidFill>
                  <a:srgbClr val="FFFFFF"/>
                </a:solidFill>
                <a:latin typeface="Montserrat" pitchFamily="34" charset="0"/>
                <a:ea typeface="Montserrat" pitchFamily="34" charset="-122"/>
                <a:cs typeface="Montserrat" pitchFamily="34" charset="-120"/>
              </a:rPr>
              <a:t>CLAIM</a:t>
            </a:r>
            <a:endParaRPr lang="en-US" sz="1125" dirty="0"/>
          </a:p>
        </p:txBody>
      </p:sp>
      <p:pic>
        <p:nvPicPr>
          <p:cNvPr id="13" name="Image 4" descr="preencoded.png">    </p:cNvPr>
          <p:cNvPicPr>
            <a:picLocks noChangeAspect="1"/>
          </p:cNvPicPr>
          <p:nvPr/>
        </p:nvPicPr>
        <p:blipFill>
          <a:blip r:embed="rId6"/>
          <a:stretch>
            <a:fillRect/>
          </a:stretch>
        </p:blipFill>
        <p:spPr>
          <a:xfrm>
            <a:off x="1333500" y="6381750"/>
            <a:ext cx="1524000" cy="571500"/>
          </a:xfrm>
          <a:prstGeom prst="rect">
            <a:avLst/>
          </a:prstGeom>
        </p:spPr>
      </p:pic>
      <p:sp>
        <p:nvSpPr>
          <p:cNvPr id="14" name="Text 7"/>
          <p:cNvSpPr/>
          <p:nvPr/>
        </p:nvSpPr>
        <p:spPr>
          <a:xfrm>
            <a:off x="1333500" y="6553200"/>
            <a:ext cx="1524000" cy="142875"/>
          </a:xfrm>
          <a:prstGeom prst="rect">
            <a:avLst/>
          </a:prstGeom>
          <a:noFill/>
          <a:ln/>
        </p:spPr>
        <p:txBody>
          <a:bodyPr wrap="square" rtlCol="0" anchor="ctr"/>
          <a:lstStyle/>
          <a:p>
            <a:pPr algn="ctr" indent="0" marL="0">
              <a:lnSpc>
                <a:spcPct val="100000"/>
              </a:lnSpc>
              <a:buNone/>
            </a:pPr>
            <a:r>
              <a:rPr lang="en-US" sz="1125" b="1" dirty="0">
                <a:solidFill>
                  <a:srgbClr val="FFFFFF"/>
                </a:solidFill>
                <a:latin typeface="Montserrat" pitchFamily="34" charset="0"/>
                <a:ea typeface="Montserrat" pitchFamily="34" charset="-122"/>
                <a:cs typeface="Montserrat" pitchFamily="34" charset="-120"/>
              </a:rPr>
              <a:t>CASH</a:t>
            </a:r>
            <a:endParaRPr lang="en-US" sz="1125" dirty="0"/>
          </a:p>
        </p:txBody>
      </p:sp>
      <p:pic>
        <p:nvPicPr>
          <p:cNvPr id="15" name="Image 5" descr="preencoded.png">    </p:cNvPr>
          <p:cNvPicPr>
            <a:picLocks noChangeAspect="1"/>
          </p:cNvPicPr>
          <p:nvPr/>
        </p:nvPicPr>
        <p:blipFill>
          <a:blip r:embed="rId7"/>
          <a:stretch>
            <a:fillRect/>
          </a:stretch>
        </p:blipFill>
        <p:spPr>
          <a:xfrm>
            <a:off x="3048000" y="6381750"/>
            <a:ext cx="1524000" cy="571500"/>
          </a:xfrm>
          <a:prstGeom prst="rect">
            <a:avLst/>
          </a:prstGeom>
        </p:spPr>
      </p:pic>
      <p:sp>
        <p:nvSpPr>
          <p:cNvPr id="16" name="Text 8"/>
          <p:cNvSpPr/>
          <p:nvPr/>
        </p:nvSpPr>
        <p:spPr>
          <a:xfrm>
            <a:off x="3048000" y="6553200"/>
            <a:ext cx="1524000" cy="142875"/>
          </a:xfrm>
          <a:prstGeom prst="rect">
            <a:avLst/>
          </a:prstGeom>
          <a:noFill/>
          <a:ln/>
        </p:spPr>
        <p:txBody>
          <a:bodyPr wrap="square" rtlCol="0" anchor="ctr"/>
          <a:lstStyle/>
          <a:p>
            <a:pPr algn="ctr" indent="0" marL="0">
              <a:lnSpc>
                <a:spcPct val="100000"/>
              </a:lnSpc>
              <a:buNone/>
            </a:pPr>
            <a:r>
              <a:rPr lang="en-US" sz="1125" b="1" dirty="0">
                <a:solidFill>
                  <a:srgbClr val="FFFFFF"/>
                </a:solidFill>
                <a:latin typeface="Montserrat" pitchFamily="34" charset="0"/>
                <a:ea typeface="Montserrat" pitchFamily="34" charset="-122"/>
                <a:cs typeface="Montserrat" pitchFamily="34" charset="-120"/>
              </a:rPr>
              <a:t>PRIZE</a:t>
            </a:r>
            <a:endParaRPr lang="en-US" sz="1125" dirty="0"/>
          </a:p>
        </p:txBody>
      </p:sp>
      <p:pic>
        <p:nvPicPr>
          <p:cNvPr id="17" name="Image 6" descr="preencoded.png">    </p:cNvPr>
          <p:cNvPicPr>
            <a:picLocks noChangeAspect="1"/>
          </p:cNvPicPr>
          <p:nvPr/>
        </p:nvPicPr>
        <p:blipFill>
          <a:blip r:embed="rId8"/>
          <a:stretch>
            <a:fillRect/>
          </a:stretch>
        </p:blipFill>
        <p:spPr>
          <a:xfrm>
            <a:off x="4762500" y="6381750"/>
            <a:ext cx="1524000" cy="571500"/>
          </a:xfrm>
          <a:prstGeom prst="rect">
            <a:avLst/>
          </a:prstGeom>
        </p:spPr>
      </p:pic>
      <p:sp>
        <p:nvSpPr>
          <p:cNvPr id="18" name="Text 9"/>
          <p:cNvSpPr/>
          <p:nvPr/>
        </p:nvSpPr>
        <p:spPr>
          <a:xfrm>
            <a:off x="4762500" y="6553200"/>
            <a:ext cx="1524000" cy="142875"/>
          </a:xfrm>
          <a:prstGeom prst="rect">
            <a:avLst/>
          </a:prstGeom>
          <a:noFill/>
          <a:ln/>
        </p:spPr>
        <p:txBody>
          <a:bodyPr wrap="square" rtlCol="0" anchor="ctr"/>
          <a:lstStyle/>
          <a:p>
            <a:pPr algn="ctr" indent="0" marL="0">
              <a:lnSpc>
                <a:spcPct val="100000"/>
              </a:lnSpc>
              <a:buNone/>
            </a:pPr>
            <a:r>
              <a:rPr lang="en-US" sz="1125" b="1" dirty="0">
                <a:solidFill>
                  <a:srgbClr val="FFFFFF"/>
                </a:solidFill>
                <a:latin typeface="Montserrat" pitchFamily="34" charset="0"/>
                <a:ea typeface="Montserrat" pitchFamily="34" charset="-122"/>
                <a:cs typeface="Montserrat" pitchFamily="34" charset="-120"/>
              </a:rPr>
              <a:t>WINNER</a:t>
            </a:r>
            <a:endParaRPr lang="en-US" sz="1125" dirty="0"/>
          </a:p>
        </p:txBody>
      </p:sp>
      <p:pic>
        <p:nvPicPr>
          <p:cNvPr id="19" name="Image 7" descr="preencoded.png">    </p:cNvPr>
          <p:cNvPicPr>
            <a:picLocks noChangeAspect="1"/>
          </p:cNvPicPr>
          <p:nvPr/>
        </p:nvPicPr>
        <p:blipFill>
          <a:blip r:embed="rId9"/>
          <a:stretch>
            <a:fillRect/>
          </a:stretch>
        </p:blipFill>
        <p:spPr>
          <a:xfrm>
            <a:off x="9334500" y="2286000"/>
            <a:ext cx="8001000" cy="5619750"/>
          </a:xfrm>
          <a:prstGeom prst="rect">
            <a:avLst/>
          </a:prstGeom>
        </p:spPr>
      </p:pic>
      <p:pic>
        <p:nvPicPr>
          <p:cNvPr id="20" name="Image 8" descr="preencoded.png">    </p:cNvPr>
          <p:cNvPicPr>
            <a:picLocks noChangeAspect="1"/>
          </p:cNvPicPr>
          <p:nvPr/>
        </p:nvPicPr>
        <p:blipFill>
          <a:blip r:embed="rId10"/>
          <a:stretch>
            <a:fillRect/>
          </a:stretch>
        </p:blipFill>
        <p:spPr>
          <a:xfrm>
            <a:off x="9715500" y="2667000"/>
            <a:ext cx="7239000" cy="4857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52500" y="762000"/>
            <a:ext cx="4762500" cy="180975"/>
          </a:xfrm>
          <a:prstGeom prst="rect">
            <a:avLst/>
          </a:prstGeom>
          <a:noFill/>
          <a:ln/>
        </p:spPr>
        <p:txBody>
          <a:bodyPr wrap="square" rtlCol="0" anchor="ctr"/>
          <a:lstStyle/>
          <a:p>
            <a:pPr algn="l" indent="0" marL="0">
              <a:lnSpc>
                <a:spcPct val="120000"/>
              </a:lnSpc>
              <a:buNone/>
            </a:pPr>
            <a:r>
              <a:rPr lang="en-US" sz="1200" b="1" dirty="0">
                <a:solidFill>
                  <a:srgbClr val="FF5A1F"/>
                </a:solidFill>
                <a:latin typeface="Montserrat" pitchFamily="34" charset="0"/>
                <a:ea typeface="Montserrat" pitchFamily="34" charset="-122"/>
                <a:cs typeface="Montserrat" pitchFamily="34" charset="-120"/>
              </a:rPr>
              <a:t>09  /  CONCLUSION</a:t>
            </a:r>
            <a:endParaRPr lang="en-US" sz="1200" dirty="0"/>
          </a:p>
        </p:txBody>
      </p:sp>
      <p:sp>
        <p:nvSpPr>
          <p:cNvPr id="3" name="Text 1"/>
          <p:cNvSpPr/>
          <p:nvPr/>
        </p:nvSpPr>
        <p:spPr>
          <a:xfrm>
            <a:off x="952500" y="1143000"/>
            <a:ext cx="9525000" cy="504825"/>
          </a:xfrm>
          <a:prstGeom prst="rect">
            <a:avLst/>
          </a:prstGeom>
          <a:noFill/>
          <a:ln/>
        </p:spPr>
        <p:txBody>
          <a:bodyPr wrap="square" rtlCol="0" anchor="ctr"/>
          <a:lstStyle/>
          <a:p>
            <a:pPr algn="l" indent="0" marL="0">
              <a:lnSpc>
                <a:spcPct val="120000"/>
              </a:lnSpc>
              <a:buNone/>
            </a:pPr>
            <a:r>
              <a:rPr lang="en-US" sz="3300" b="1" dirty="0">
                <a:solidFill>
                  <a:srgbClr val="FFFFFF"/>
                </a:solidFill>
                <a:latin typeface="Montserrat" pitchFamily="34" charset="0"/>
                <a:ea typeface="Montserrat" pitchFamily="34" charset="-122"/>
                <a:cs typeface="Montserrat" pitchFamily="34" charset="-120"/>
              </a:rPr>
              <a:t>Project Deliverables &amp; Key Takeaways</a:t>
            </a:r>
            <a:endParaRPr lang="en-US" sz="3300" dirty="0"/>
          </a:p>
        </p:txBody>
      </p:sp>
      <p:pic>
        <p:nvPicPr>
          <p:cNvPr id="4" name="Image 0" descr="preencoded.png">    </p:cNvPr>
          <p:cNvPicPr>
            <a:picLocks noChangeAspect="1"/>
          </p:cNvPicPr>
          <p:nvPr/>
        </p:nvPicPr>
        <p:blipFill>
          <a:blip r:embed="rId2"/>
          <a:stretch>
            <a:fillRect/>
          </a:stretch>
        </p:blipFill>
        <p:spPr>
          <a:xfrm>
            <a:off x="952500" y="2286000"/>
            <a:ext cx="8001000" cy="5619750"/>
          </a:xfrm>
          <a:prstGeom prst="rect">
            <a:avLst/>
          </a:prstGeom>
        </p:spPr>
      </p:pic>
      <p:sp>
        <p:nvSpPr>
          <p:cNvPr id="5" name="Text 2"/>
          <p:cNvSpPr/>
          <p:nvPr/>
        </p:nvSpPr>
        <p:spPr>
          <a:xfrm>
            <a:off x="1333500" y="2714625"/>
            <a:ext cx="7239000" cy="4752975"/>
          </a:xfrm>
          <a:prstGeom prst="rect">
            <a:avLst/>
          </a:prstGeom>
          <a:noFill/>
          <a:ln/>
        </p:spPr>
        <p:txBody>
          <a:bodyPr wrap="square" rtlCol="0" anchor="ctr"/>
          <a:lstStyle/>
          <a:p>
            <a:pPr algn="l" indent="0" marL="0">
              <a:lnSpc>
                <a:spcPct val="160000"/>
              </a:lnSpc>
              <a:buNone/>
            </a:pPr>
            <a:r>
              <a:rPr lang="en-US" sz="1800" b="1" dirty="0">
                <a:solidFill>
                  <a:srgbClr val="FFFFFF"/>
                </a:solidFill>
                <a:latin typeface="Inter" pitchFamily="34" charset="0"/>
                <a:ea typeface="Inter" pitchFamily="34" charset="-122"/>
                <a:cs typeface="Inter" pitchFamily="34" charset="-120"/>
              </a:rPr>
              <a:t>Project Milestones &amp; Skills Mastered</a:t>
            </a:r>
            <a:endParaRPr lang="en-US" sz="1800" dirty="0"/>
          </a:p>
          <a:p>
            <a:pPr algn="l" marL="342900" indent="-342900">
              <a:lnSpc>
                <a:spcPct val="160000"/>
              </a:lnSpc>
              <a:buSzPct val="100000"/>
              <a:buChar char="•"/>
            </a:pPr>
            <a:r>
              <a:rPr lang="en-US" sz="1800" b="1" dirty="0">
                <a:solidFill>
                  <a:srgbClr val="FF5A1F"/>
                </a:solidFill>
                <a:latin typeface="Inter" pitchFamily="34" charset="0"/>
                <a:ea typeface="Inter" pitchFamily="34" charset="-122"/>
                <a:cs typeface="Inter" pitchFamily="34" charset="-120"/>
              </a:rPr>
              <a:t>High-Precision Classification Achieved</a:t>
            </a:r>
            <a:endParaRPr lang="en-US" sz="1800" dirty="0"/>
          </a:p>
          <a:p>
            <a:pPr algn="l" indent="0" marL="0">
              <a:lnSpc>
                <a:spcPct val="160000"/>
              </a:lnSpc>
              <a:buNone/>
            </a:pPr>
            <a:r>
              <a:rPr lang="en-US" sz="1800" dirty="0">
                <a:solidFill>
                  <a:srgbClr val="94A3B8"/>
                </a:solidFill>
                <a:latin typeface="Inter" pitchFamily="34" charset="0"/>
                <a:ea typeface="Inter" pitchFamily="34" charset="-122"/>
                <a:cs typeface="Inter" pitchFamily="34" charset="-120"/>
              </a:rPr>
              <a:t>Successfully built, evaluated, and polished an end-to-end classification system achieving 98.7% prediction accuracy on text corpus.</a:t>
            </a:r>
            <a:endParaRPr lang="en-US" sz="1800" dirty="0"/>
          </a:p>
          <a:p>
            <a:pPr algn="l" marL="342900" indent="-342900">
              <a:lnSpc>
                <a:spcPct val="160000"/>
              </a:lnSpc>
              <a:buSzPct val="100000"/>
              <a:buChar char="•"/>
            </a:pPr>
            <a:r>
              <a:rPr lang="en-US" sz="1800" b="1" dirty="0">
                <a:solidFill>
                  <a:srgbClr val="38BDF8"/>
                </a:solidFill>
                <a:latin typeface="Inter" pitchFamily="34" charset="0"/>
                <a:ea typeface="Inter" pitchFamily="34" charset="-122"/>
                <a:cs typeface="Inter" pitchFamily="34" charset="-120"/>
              </a:rPr>
              <a:t>Advanced NLP Engineering Pipeline</a:t>
            </a:r>
            <a:endParaRPr lang="en-US" sz="1800" dirty="0"/>
          </a:p>
          <a:p>
            <a:pPr algn="l" indent="0" marL="0">
              <a:lnSpc>
                <a:spcPct val="160000"/>
              </a:lnSpc>
              <a:buNone/>
            </a:pPr>
            <a:r>
              <a:rPr lang="en-US" sz="1800" dirty="0">
                <a:solidFill>
                  <a:srgbClr val="94A3B8"/>
                </a:solidFill>
                <a:latin typeface="Inter" pitchFamily="34" charset="0"/>
                <a:ea typeface="Inter" pitchFamily="34" charset="-122"/>
                <a:cs typeface="Inter" pitchFamily="34" charset="-120"/>
              </a:rPr>
              <a:t>Gained hands-on experience setting up tokenizers, cleansing stopwords, standardizing lowercasing, and building weighted TF-IDF matrices.</a:t>
            </a:r>
            <a:endParaRPr lang="en-US" sz="1800" dirty="0"/>
          </a:p>
          <a:p>
            <a:pPr algn="l" marL="342900" indent="-342900">
              <a:lnSpc>
                <a:spcPct val="160000"/>
              </a:lnSpc>
              <a:buSzPct val="100000"/>
              <a:buChar char="•"/>
            </a:pPr>
            <a:r>
              <a:rPr lang="en-US" sz="1800" b="1" dirty="0">
                <a:solidFill>
                  <a:srgbClr val="10B981"/>
                </a:solidFill>
                <a:latin typeface="Inter" pitchFamily="34" charset="0"/>
                <a:ea typeface="Inter" pitchFamily="34" charset="-122"/>
                <a:cs typeface="Inter" pitchFamily="34" charset="-120"/>
              </a:rPr>
              <a:t>Production-Ready Security Filtering</a:t>
            </a:r>
            <a:endParaRPr lang="en-US" sz="1800" dirty="0"/>
          </a:p>
          <a:p>
            <a:pPr algn="l" indent="0" marL="0">
              <a:lnSpc>
                <a:spcPct val="160000"/>
              </a:lnSpc>
              <a:buNone/>
            </a:pPr>
            <a:r>
              <a:rPr lang="en-US" sz="1800" dirty="0">
                <a:solidFill>
                  <a:srgbClr val="94A3B8"/>
                </a:solidFill>
                <a:latin typeface="Inter" pitchFamily="34" charset="0"/>
                <a:ea typeface="Inter" pitchFamily="34" charset="-122"/>
                <a:cs typeface="Inter" pitchFamily="34" charset="-120"/>
              </a:rPr>
              <a:t>Demonstrated how standard Machine Learning algorithms (Multinomial Naive Bayes) can solve mission-critical security problems with ultra-low computation latency.</a:t>
            </a:r>
            <a:endParaRPr lang="en-US" sz="1800" dirty="0"/>
          </a:p>
        </p:txBody>
      </p:sp>
      <p:pic>
        <p:nvPicPr>
          <p:cNvPr id="6" name="Image 1" descr="preencoded.png">    </p:cNvPr>
          <p:cNvPicPr>
            <a:picLocks noChangeAspect="1"/>
          </p:cNvPicPr>
          <p:nvPr/>
        </p:nvPicPr>
        <p:blipFill>
          <a:blip r:embed="rId3"/>
          <a:stretch>
            <a:fillRect/>
          </a:stretch>
        </p:blipFill>
        <p:spPr>
          <a:xfrm>
            <a:off x="9334500" y="2286000"/>
            <a:ext cx="8001000" cy="5619750"/>
          </a:xfrm>
          <a:prstGeom prst="rect">
            <a:avLst/>
          </a:prstGeom>
        </p:spPr>
      </p:pic>
      <p:pic>
        <p:nvPicPr>
          <p:cNvPr id="7" name="Image 2" descr="preencoded.png">    </p:cNvPr>
          <p:cNvPicPr>
            <a:picLocks noChangeAspect="1"/>
          </p:cNvPicPr>
          <p:nvPr/>
        </p:nvPicPr>
        <p:blipFill>
          <a:blip r:embed="rId4"/>
          <a:stretch>
            <a:fillRect/>
          </a:stretch>
        </p:blipFill>
        <p:spPr>
          <a:xfrm>
            <a:off x="9715500" y="2667000"/>
            <a:ext cx="7239000" cy="4857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446ce924-23c4-4dfa-bfa1-f243a8f169d8</dc:title>
  <dc:subject>Presentation Export</dc:subject>
  <dc:creator>Design Export</dc:creator>
  <cp:lastModifiedBy>Design Export</cp:lastModifiedBy>
  <cp:revision>1</cp:revision>
  <dcterms:created xsi:type="dcterms:W3CDTF">2026-06-14T09:16:35Z</dcterms:created>
  <dcterms:modified xsi:type="dcterms:W3CDTF">2026-06-14T09:16:35Z</dcterms:modified>
</cp:coreProperties>
</file>